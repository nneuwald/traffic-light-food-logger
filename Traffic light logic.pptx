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USDA gives" id="{71188bcf-73b6-4ae0-92a3-0b33fa5dfc87}">
          <p14:sldIdLst>
            <p14:sldId id="256"/>
            <p14:sldId id="257"/>
            <p14:sldId id="258"/>
            <p14:sldId id="259"/>
          </p14:sldIdLst>
        </p14:section>
        <p14:section name="Worked through" id="{f4d9f190-79bd-076c-5fca-aa5445b98d79}">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classification logic to someone who has never seen the code. Epstein's Food and Activity Reference Guide (2012) is the source for every threshold. The app follows it as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wrong assumption is that a nutrition database carries a food group or a colour you can look up. It does not. Everything on the right is worked out from the two pieces of text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whole bagel is four servings in the diet and one on the package, which is why question 2 is its own step rather than just reading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to point at is the first bar. Vegetables are the only group with a green segment at all, which is why nothing else can ever be green however few calories it has. Also worth noticing how far apart the lines sit: condiments turn red at 23 calories, chili soup not until 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close the carrot is: three calories higher and it would be yellow. Foods near a line turn on the record's own numbers, which is why the figure is always shown beside the colour rather than hidden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Zero-calorie diet soda being red surprises everyone; it is in the guide on p.2 and the app follows it as printed. The refusal to guess is the clinically important part: a confident wrong colour on a record is worse than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lstStyle>
            <a:lvl1pPr algn="l" indent="0" marL="0">
              <a:buNone/>
              <a:defRPr lang="en-US" sz="3400" b="1" dirty="0">
                <a:solidFill>
                  <a:srgbClr val="16211F"/>
                </a:solidFill>
                <a:latin typeface="Cambria" pitchFamily="34" charset="0"/>
                <a:ea typeface="Cambria" pitchFamily="34" charset="-122"/>
                <a:cs typeface="Cambria" pitchFamily="34" charset="-120"/>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lstStyle>
            <a:lvl1pPr algn="l" indent="0" marL="0">
              <a:buNone/>
              <a:defRPr lang="en-US" sz="3400" b="1" dirty="0">
                <a:solidFill>
                  <a:srgbClr val="F7F6F2"/>
                </a:solidFill>
                <a:latin typeface="Cambria" pitchFamily="34" charset="0"/>
                <a:ea typeface="Cambria" pitchFamily="34" charset="-122"/>
                <a:cs typeface="Cambria"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02920"/>
            <a:ext cx="11057839" cy="274320"/>
          </a:xfrm>
          <a:prstGeom prst="rect">
            <a:avLst/>
          </a:prstGeom>
          <a:noFill/>
          <a:ln/>
        </p:spPr>
        <p:txBody>
          <a:bodyPr wrap="square" lIns="0" tIns="0" rIns="0" bIns="0" rtlCol="0" anchor="ctr"/>
          <a:lstStyle/>
          <a:p>
            <a:pPr indent="0" marL="0">
              <a:buNone/>
            </a:pPr>
            <a:r>
              <a:rPr lang="en-US" sz="1200" b="1" spc="200" kern="0" dirty="0">
                <a:solidFill>
                  <a:srgbClr val="7FD0D2"/>
                </a:solidFill>
                <a:latin typeface="Calibri" pitchFamily="34" charset="0"/>
                <a:ea typeface="Calibri" pitchFamily="34" charset="-122"/>
                <a:cs typeface="Calibri" pitchFamily="34" charset="-120"/>
              </a:rPr>
              <a:t>TRAFFIC LIGHT FOOD LOGGER</a:t>
            </a:r>
            <a:endParaRPr lang="en-US" sz="1200" dirty="0"/>
          </a:p>
        </p:txBody>
      </p:sp>
      <p:sp>
        <p:nvSpPr>
          <p:cNvPr id="3" name="Text 1"/>
          <p:cNvSpPr txBox="1"/>
          <p:nvPr/>
        </p:nvSpPr>
        <p:spPr>
          <a:xfrm>
            <a:off x="566928" y="1371600"/>
            <a:ext cx="9601200" cy="2011680"/>
          </a:xfrm>
          <a:prstGeom prst="rect">
            <a:avLst/>
          </a:prstGeom>
          <a:noFill/>
          <a:ln/>
        </p:spPr>
        <p:txBody>
          <a:bodyPr wrap="square" lIns="0" tIns="0" rIns="0" bIns="0" rtlCol="0" anchor="ctr"/>
          <a:lstStyle/>
          <a:p>
            <a:pPr indent="0" marL="0">
              <a:lnSpc>
                <a:spcPct val="105000"/>
              </a:lnSpc>
              <a:buNone/>
            </a:pPr>
            <a:r>
              <a:rPr lang="en-US" sz="4800" b="1" dirty="0">
                <a:solidFill>
                  <a:srgbClr val="F7F6F2"/>
                </a:solidFill>
                <a:latin typeface="Cambria" pitchFamily="34" charset="0"/>
                <a:ea typeface="Cambria" pitchFamily="34" charset="-122"/>
                <a:cs typeface="Cambria" pitchFamily="34" charset="-120"/>
              </a:rPr>
              <a:t>From a USDA record</a:t>
            </a:r>
            <a:endParaRPr lang="en-US" sz="4800" dirty="0"/>
          </a:p>
          <a:p>
            <a:pPr indent="0" marL="0">
              <a:lnSpc>
                <a:spcPct val="105000"/>
              </a:lnSpc>
              <a:buNone/>
            </a:pPr>
            <a:r>
              <a:rPr lang="en-US" sz="4800" b="1" dirty="0">
                <a:solidFill>
                  <a:srgbClr val="F7F6F2"/>
                </a:solidFill>
                <a:latin typeface="Cambria" pitchFamily="34" charset="0"/>
                <a:ea typeface="Cambria" pitchFamily="34" charset="-122"/>
                <a:cs typeface="Cambria" pitchFamily="34" charset="-120"/>
              </a:rPr>
              <a:t>to a traffic light</a:t>
            </a:r>
            <a:endParaRPr lang="en-US" sz="4800" dirty="0"/>
          </a:p>
        </p:txBody>
      </p:sp>
      <p:sp>
        <p:nvSpPr>
          <p:cNvPr id="4" name="Text 2"/>
          <p:cNvSpPr txBox="1"/>
          <p:nvPr/>
        </p:nvSpPr>
        <p:spPr>
          <a:xfrm>
            <a:off x="566928" y="3566160"/>
            <a:ext cx="8595360" cy="822960"/>
          </a:xfrm>
          <a:prstGeom prst="rect">
            <a:avLst/>
          </a:prstGeom>
          <a:noFill/>
          <a:ln/>
        </p:spPr>
        <p:txBody>
          <a:bodyPr wrap="square" lIns="0" tIns="0" rIns="0" bIns="0" rtlCol="0" anchor="ctr"/>
          <a:lstStyle/>
          <a:p>
            <a:pPr indent="0" marL="0">
              <a:buNone/>
            </a:pPr>
            <a:r>
              <a:rPr lang="en-US" sz="1700" dirty="0">
                <a:solidFill>
                  <a:srgbClr val="BFD8D5"/>
                </a:solidFill>
                <a:latin typeface="Calibri" pitchFamily="34" charset="0"/>
                <a:ea typeface="Calibri" pitchFamily="34" charset="-122"/>
                <a:cs typeface="Calibri" pitchFamily="34" charset="-120"/>
              </a:rPr>
              <a:t>How the app decides whether a food is green, yellow or red, in the order it actually decides it.</a:t>
            </a:r>
            <a:endParaRPr lang="en-US" sz="1700" dirty="0"/>
          </a:p>
        </p:txBody>
      </p:sp>
      <p:sp>
        <p:nvSpPr>
          <p:cNvPr id="5" name="Shape 3"/>
          <p:cNvSpPr/>
          <p:nvPr/>
        </p:nvSpPr>
        <p:spPr>
          <a:xfrm>
            <a:off x="566928" y="5394960"/>
            <a:ext cx="1417320" cy="402336"/>
          </a:xfrm>
          <a:prstGeom prst="roundRect">
            <a:avLst>
              <a:gd name="adj" fmla="val 50000"/>
            </a:avLst>
          </a:prstGeom>
          <a:solidFill>
            <a:srgbClr val="1E7A34"/>
          </a:solidFill>
          <a:ln/>
        </p:spPr>
      </p:sp>
      <p:sp>
        <p:nvSpPr>
          <p:cNvPr id="6" name="Text 4"/>
          <p:cNvSpPr txBox="1"/>
          <p:nvPr/>
        </p:nvSpPr>
        <p:spPr>
          <a:xfrm>
            <a:off x="566928" y="5394960"/>
            <a:ext cx="1417320" cy="402336"/>
          </a:xfrm>
          <a:prstGeom prst="rect">
            <a:avLst/>
          </a:prstGeom>
          <a:noFill/>
          <a:ln/>
        </p:spPr>
        <p:txBody>
          <a:bodyPr wrap="square" lIns="0" tIns="0" rIns="0" bIns="0" rtlCol="0" anchor="ctr"/>
          <a:lstStyle/>
          <a:p>
            <a:pPr algn="ctr" indent="0" marL="0">
              <a:buNone/>
            </a:pPr>
            <a:r>
              <a:rPr lang="en-US" sz="1200" b="1" dirty="0">
                <a:solidFill>
                  <a:srgbClr val="F7F6F2"/>
                </a:solidFill>
                <a:latin typeface="Calibri" pitchFamily="34" charset="0"/>
                <a:ea typeface="Calibri" pitchFamily="34" charset="-122"/>
                <a:cs typeface="Calibri" pitchFamily="34" charset="-120"/>
              </a:rPr>
              <a:t>GREEN</a:t>
            </a:r>
            <a:endParaRPr lang="en-US" sz="1200" dirty="0"/>
          </a:p>
        </p:txBody>
      </p:sp>
      <p:sp>
        <p:nvSpPr>
          <p:cNvPr id="7" name="Shape 5"/>
          <p:cNvSpPr/>
          <p:nvPr/>
        </p:nvSpPr>
        <p:spPr>
          <a:xfrm>
            <a:off x="2139696" y="5394960"/>
            <a:ext cx="1417320" cy="402336"/>
          </a:xfrm>
          <a:prstGeom prst="roundRect">
            <a:avLst>
              <a:gd name="adj" fmla="val 50000"/>
            </a:avLst>
          </a:prstGeom>
          <a:solidFill>
            <a:srgbClr val="C08A00"/>
          </a:solidFill>
          <a:ln/>
        </p:spPr>
      </p:sp>
      <p:sp>
        <p:nvSpPr>
          <p:cNvPr id="8" name="Text 6"/>
          <p:cNvSpPr txBox="1"/>
          <p:nvPr/>
        </p:nvSpPr>
        <p:spPr>
          <a:xfrm>
            <a:off x="2139696" y="5394960"/>
            <a:ext cx="1417320" cy="402336"/>
          </a:xfrm>
          <a:prstGeom prst="rect">
            <a:avLst/>
          </a:prstGeom>
          <a:noFill/>
          <a:ln/>
        </p:spPr>
        <p:txBody>
          <a:bodyPr wrap="square" lIns="0" tIns="0" rIns="0" bIns="0" rtlCol="0" anchor="ctr"/>
          <a:lstStyle/>
          <a:p>
            <a:pPr algn="ctr" indent="0" marL="0">
              <a:buNone/>
            </a:pPr>
            <a:r>
              <a:rPr lang="en-US" sz="1200" b="1" dirty="0">
                <a:solidFill>
                  <a:srgbClr val="16211F"/>
                </a:solidFill>
                <a:latin typeface="Calibri" pitchFamily="34" charset="0"/>
                <a:ea typeface="Calibri" pitchFamily="34" charset="-122"/>
                <a:cs typeface="Calibri" pitchFamily="34" charset="-120"/>
              </a:rPr>
              <a:t>YELLOW</a:t>
            </a:r>
            <a:endParaRPr lang="en-US" sz="1200" dirty="0"/>
          </a:p>
        </p:txBody>
      </p:sp>
      <p:sp>
        <p:nvSpPr>
          <p:cNvPr id="9" name="Shape 7"/>
          <p:cNvSpPr/>
          <p:nvPr/>
        </p:nvSpPr>
        <p:spPr>
          <a:xfrm>
            <a:off x="3712464" y="5394960"/>
            <a:ext cx="1417320" cy="402336"/>
          </a:xfrm>
          <a:prstGeom prst="roundRect">
            <a:avLst>
              <a:gd name="adj" fmla="val 50000"/>
            </a:avLst>
          </a:prstGeom>
          <a:solidFill>
            <a:srgbClr val="B3261E"/>
          </a:solidFill>
          <a:ln/>
        </p:spPr>
      </p:sp>
      <p:sp>
        <p:nvSpPr>
          <p:cNvPr id="10" name="Text 8"/>
          <p:cNvSpPr txBox="1"/>
          <p:nvPr/>
        </p:nvSpPr>
        <p:spPr>
          <a:xfrm>
            <a:off x="3712464" y="5394960"/>
            <a:ext cx="1417320" cy="402336"/>
          </a:xfrm>
          <a:prstGeom prst="rect">
            <a:avLst/>
          </a:prstGeom>
          <a:noFill/>
          <a:ln/>
        </p:spPr>
        <p:txBody>
          <a:bodyPr wrap="square" lIns="0" tIns="0" rIns="0" bIns="0" rtlCol="0" anchor="ctr"/>
          <a:lstStyle/>
          <a:p>
            <a:pPr algn="ctr" indent="0" marL="0">
              <a:buNone/>
            </a:pPr>
            <a:r>
              <a:rPr lang="en-US" sz="1200" b="1" dirty="0">
                <a:solidFill>
                  <a:srgbClr val="F7F6F2"/>
                </a:solidFill>
                <a:latin typeface="Calibri" pitchFamily="34" charset="0"/>
                <a:ea typeface="Calibri" pitchFamily="34" charset="-122"/>
                <a:cs typeface="Calibri" pitchFamily="34" charset="-120"/>
              </a:rPr>
              <a:t>RED</a:t>
            </a:r>
            <a:endParaRPr lang="en-US" sz="1200" dirty="0"/>
          </a:p>
        </p:txBody>
      </p:sp>
      <p:sp>
        <p:nvSpPr>
          <p:cNvPr id="11" name="Shape 9"/>
          <p:cNvSpPr/>
          <p:nvPr/>
        </p:nvSpPr>
        <p:spPr>
          <a:xfrm>
            <a:off x="5285232" y="5394960"/>
            <a:ext cx="1417320" cy="402336"/>
          </a:xfrm>
          <a:prstGeom prst="roundRect">
            <a:avLst>
              <a:gd name="adj" fmla="val 50000"/>
            </a:avLst>
          </a:prstGeom>
          <a:solidFill>
            <a:srgbClr val="1E2D2A"/>
          </a:solidFill>
          <a:ln w="12700">
            <a:solidFill>
              <a:srgbClr val="4A5A57"/>
            </a:solidFill>
            <a:prstDash val="solid"/>
          </a:ln>
        </p:spPr>
      </p:sp>
      <p:sp>
        <p:nvSpPr>
          <p:cNvPr id="12" name="Text 10"/>
          <p:cNvSpPr txBox="1"/>
          <p:nvPr/>
        </p:nvSpPr>
        <p:spPr>
          <a:xfrm>
            <a:off x="5285232" y="5394960"/>
            <a:ext cx="1417320" cy="402336"/>
          </a:xfrm>
          <a:prstGeom prst="rect">
            <a:avLst/>
          </a:prstGeom>
          <a:noFill/>
          <a:ln/>
        </p:spPr>
        <p:txBody>
          <a:bodyPr wrap="square" lIns="0" tIns="0" rIns="0" bIns="0" rtlCol="0" anchor="ctr"/>
          <a:lstStyle/>
          <a:p>
            <a:pPr algn="ctr" indent="0" marL="0">
              <a:buNone/>
            </a:pPr>
            <a:r>
              <a:rPr lang="en-US" sz="1200" b="1" dirty="0">
                <a:solidFill>
                  <a:srgbClr val="BFD8D5"/>
                </a:solidFill>
                <a:latin typeface="Calibri" pitchFamily="34" charset="0"/>
                <a:ea typeface="Calibri" pitchFamily="34" charset="-122"/>
                <a:cs typeface="Calibri" pitchFamily="34" charset="-120"/>
              </a:rPr>
              <a:t>NO COLOUR</a:t>
            </a:r>
            <a:endParaRPr lang="en-US" sz="1200" dirty="0"/>
          </a:p>
        </p:txBody>
      </p:sp>
      <p:sp>
        <p:nvSpPr>
          <p:cNvPr id="14"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r>
              <a:rPr lang="en-US" sz="3400" b="1" dirty="0">
                <a:solidFill>
                  <a:srgbClr val="16211F"/>
                </a:solidFill>
                <a:latin typeface="Cambria" pitchFamily="34" charset="0"/>
                <a:ea typeface="Cambria" pitchFamily="34" charset="-122"/>
                <a:cs typeface="Cambria" pitchFamily="34" charset="-120"/>
              </a:rPr>
              <a:t>USDA does not tell you the colour</a:t>
            </a:r>
            <a:endParaRPr lang="en-US" sz="3400" dirty="0"/>
          </a:p>
        </p:txBody>
      </p:sp>
      <p:sp>
        <p:nvSpPr>
          <p:cNvPr id="3" name="Shape 1"/>
          <p:cNvSpPr/>
          <p:nvPr/>
        </p:nvSpPr>
        <p:spPr>
          <a:xfrm>
            <a:off x="566928" y="1463040"/>
            <a:ext cx="5382616" cy="3200400"/>
          </a:xfrm>
          <a:prstGeom prst="roundRect">
            <a:avLst>
              <a:gd name="adj" fmla="val 2857"/>
            </a:avLst>
          </a:prstGeom>
          <a:solidFill>
            <a:srgbClr val="FFFFFF"/>
          </a:solidFill>
          <a:ln w="12700">
            <a:solidFill>
              <a:srgbClr val="DFE2DE"/>
            </a:solidFill>
            <a:prstDash val="solid"/>
          </a:ln>
        </p:spPr>
      </p:sp>
      <p:sp>
        <p:nvSpPr>
          <p:cNvPr id="4" name="Text 2"/>
          <p:cNvSpPr txBox="1"/>
          <p:nvPr/>
        </p:nvSpPr>
        <p:spPr>
          <a:xfrm>
            <a:off x="914400" y="1755648"/>
            <a:ext cx="4754880" cy="274320"/>
          </a:xfrm>
          <a:prstGeom prst="rect">
            <a:avLst/>
          </a:prstGeom>
          <a:noFill/>
          <a:ln/>
        </p:spPr>
        <p:txBody>
          <a:bodyPr wrap="square" lIns="0" tIns="0" rIns="0" bIns="0" rtlCol="0" anchor="ctr"/>
          <a:lstStyle/>
          <a:p>
            <a:pPr indent="0" marL="0">
              <a:buNone/>
            </a:pPr>
            <a:r>
              <a:rPr lang="en-US" sz="1200" b="1" spc="150" kern="0" dirty="0">
                <a:solidFill>
                  <a:srgbClr val="0F5F63"/>
                </a:solidFill>
                <a:latin typeface="Calibri" pitchFamily="34" charset="0"/>
                <a:ea typeface="Calibri" pitchFamily="34" charset="-122"/>
                <a:cs typeface="Calibri" pitchFamily="34" charset="-120"/>
              </a:rPr>
              <a:t>WHAT USDA HANDS OVER</a:t>
            </a:r>
            <a:endParaRPr lang="en-US" sz="1200" dirty="0"/>
          </a:p>
        </p:txBody>
      </p:sp>
      <p:sp>
        <p:nvSpPr>
          <p:cNvPr id="5" name="Text 3"/>
          <p:cNvSpPr txBox="1"/>
          <p:nvPr/>
        </p:nvSpPr>
        <p:spPr>
          <a:xfrm>
            <a:off x="914400" y="219456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6211F"/>
                </a:solidFill>
                <a:latin typeface="Calibri" pitchFamily="34" charset="0"/>
                <a:ea typeface="Calibri" pitchFamily="34" charset="-122"/>
                <a:cs typeface="Calibri" pitchFamily="34" charset="-120"/>
              </a:rPr>
              <a:t>A name: "Cheese, cheddar"</a:t>
            </a:r>
            <a:endParaRPr lang="en-US" sz="1600" dirty="0"/>
          </a:p>
          <a:p>
            <a:pPr marL="342900" indent="-342900">
              <a:spcAft>
                <a:spcPts val="1000"/>
              </a:spcAft>
              <a:buSzPct val="100000"/>
              <a:buChar char="•"/>
            </a:pPr>
            <a:r>
              <a:rPr lang="en-US" sz="1600" dirty="0">
                <a:solidFill>
                  <a:srgbClr val="16211F"/>
                </a:solidFill>
                <a:latin typeface="Calibri" pitchFamily="34" charset="0"/>
                <a:ea typeface="Calibri" pitchFamily="34" charset="-122"/>
                <a:cs typeface="Calibri" pitchFamily="34" charset="-120"/>
              </a:rPr>
              <a:t>A category: "Dairy and Egg Products"</a:t>
            </a:r>
            <a:endParaRPr lang="en-US" sz="1600" dirty="0"/>
          </a:p>
          <a:p>
            <a:pPr marL="342900" indent="-342900">
              <a:spcAft>
                <a:spcPts val="1000"/>
              </a:spcAft>
              <a:buSzPct val="100000"/>
              <a:buChar char="•"/>
            </a:pPr>
            <a:r>
              <a:rPr lang="en-US" sz="1600" dirty="0">
                <a:solidFill>
                  <a:srgbClr val="16211F"/>
                </a:solidFill>
                <a:latin typeface="Calibri" pitchFamily="34" charset="0"/>
                <a:ea typeface="Calibri" pitchFamily="34" charset="-122"/>
                <a:cs typeface="Calibri" pitchFamily="34" charset="-120"/>
              </a:rPr>
              <a:t>A serving size: 28 g</a:t>
            </a:r>
            <a:endParaRPr lang="en-US" sz="1600" dirty="0"/>
          </a:p>
          <a:p>
            <a:pPr marL="342900" indent="-342900">
              <a:spcAft>
                <a:spcPts val="1000"/>
              </a:spcAft>
              <a:buSzPct val="100000"/>
              <a:buChar char="•"/>
            </a:pPr>
            <a:r>
              <a:rPr lang="en-US" sz="1600" dirty="0">
                <a:solidFill>
                  <a:srgbClr val="16211F"/>
                </a:solidFill>
                <a:latin typeface="Calibri" pitchFamily="34" charset="0"/>
                <a:ea typeface="Calibri" pitchFamily="34" charset="-122"/>
                <a:cs typeface="Calibri" pitchFamily="34" charset="-120"/>
              </a:rPr>
              <a:t>Calories: 403 per 100 g</a:t>
            </a:r>
            <a:endParaRPr lang="en-US" sz="1600" dirty="0"/>
          </a:p>
        </p:txBody>
      </p:sp>
      <p:sp>
        <p:nvSpPr>
          <p:cNvPr id="6" name="Shape 4"/>
          <p:cNvSpPr/>
          <p:nvPr/>
        </p:nvSpPr>
        <p:spPr>
          <a:xfrm>
            <a:off x="6242152" y="1463040"/>
            <a:ext cx="5382616" cy="3200400"/>
          </a:xfrm>
          <a:prstGeom prst="roundRect">
            <a:avLst>
              <a:gd name="adj" fmla="val 2857"/>
            </a:avLst>
          </a:prstGeom>
          <a:solidFill>
            <a:srgbClr val="16211F"/>
          </a:solidFill>
          <a:ln/>
        </p:spPr>
      </p:sp>
      <p:sp>
        <p:nvSpPr>
          <p:cNvPr id="7" name="Text 5"/>
          <p:cNvSpPr txBox="1"/>
          <p:nvPr/>
        </p:nvSpPr>
        <p:spPr>
          <a:xfrm>
            <a:off x="6589624" y="1755648"/>
            <a:ext cx="4754880" cy="274320"/>
          </a:xfrm>
          <a:prstGeom prst="rect">
            <a:avLst/>
          </a:prstGeom>
          <a:noFill/>
          <a:ln/>
        </p:spPr>
        <p:txBody>
          <a:bodyPr wrap="square" lIns="0" tIns="0" rIns="0" bIns="0" rtlCol="0" anchor="ctr"/>
          <a:lstStyle/>
          <a:p>
            <a:pPr indent="0" marL="0">
              <a:buNone/>
            </a:pPr>
            <a:r>
              <a:rPr lang="en-US" sz="1200" b="1" spc="150" kern="0" dirty="0">
                <a:solidFill>
                  <a:srgbClr val="7FD0D2"/>
                </a:solidFill>
                <a:latin typeface="Calibri" pitchFamily="34" charset="0"/>
                <a:ea typeface="Calibri" pitchFamily="34" charset="-122"/>
                <a:cs typeface="Calibri" pitchFamily="34" charset="-120"/>
              </a:rPr>
              <a:t>WHAT THE APP WORKS OUT</a:t>
            </a:r>
            <a:endParaRPr lang="en-US" sz="1200" dirty="0"/>
          </a:p>
        </p:txBody>
      </p:sp>
      <p:sp>
        <p:nvSpPr>
          <p:cNvPr id="8" name="Text 6"/>
          <p:cNvSpPr txBox="1"/>
          <p:nvPr/>
        </p:nvSpPr>
        <p:spPr>
          <a:xfrm>
            <a:off x="6589624" y="219456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7F6F2"/>
                </a:solidFill>
                <a:latin typeface="Calibri" pitchFamily="34" charset="0"/>
                <a:ea typeface="Calibri" pitchFamily="34" charset="-122"/>
                <a:cs typeface="Calibri" pitchFamily="34" charset="-120"/>
              </a:rPr>
              <a:t>Which food group it is</a:t>
            </a:r>
            <a:endParaRPr lang="en-US" sz="1600" dirty="0"/>
          </a:p>
          <a:p>
            <a:pPr marL="342900" indent="-342900">
              <a:spcAft>
                <a:spcPts val="1000"/>
              </a:spcAft>
              <a:buSzPct val="100000"/>
              <a:buChar char="•"/>
            </a:pPr>
            <a:r>
              <a:rPr lang="en-US" sz="1600" dirty="0">
                <a:solidFill>
                  <a:srgbClr val="F7F6F2"/>
                </a:solidFill>
                <a:latin typeface="Calibri" pitchFamily="34" charset="0"/>
                <a:ea typeface="Calibri" pitchFamily="34" charset="-122"/>
                <a:cs typeface="Calibri" pitchFamily="34" charset="-120"/>
              </a:rPr>
              <a:t>The serving the diet uses</a:t>
            </a:r>
            <a:endParaRPr lang="en-US" sz="1600" dirty="0"/>
          </a:p>
          <a:p>
            <a:pPr marL="342900" indent="-342900">
              <a:spcAft>
                <a:spcPts val="1000"/>
              </a:spcAft>
              <a:buSzPct val="100000"/>
              <a:buChar char="•"/>
            </a:pPr>
            <a:r>
              <a:rPr lang="en-US" sz="1600" dirty="0">
                <a:solidFill>
                  <a:srgbClr val="F7F6F2"/>
                </a:solidFill>
                <a:latin typeface="Calibri" pitchFamily="34" charset="0"/>
                <a:ea typeface="Calibri" pitchFamily="34" charset="-122"/>
                <a:cs typeface="Calibri" pitchFamily="34" charset="-120"/>
              </a:rPr>
              <a:t>Green, yellow or red</a:t>
            </a:r>
            <a:endParaRPr lang="en-US" sz="1600" dirty="0"/>
          </a:p>
        </p:txBody>
      </p:sp>
      <p:sp>
        <p:nvSpPr>
          <p:cNvPr id="9" name="Shape 7"/>
          <p:cNvSpPr/>
          <p:nvPr/>
        </p:nvSpPr>
        <p:spPr>
          <a:xfrm>
            <a:off x="566928" y="4892040"/>
            <a:ext cx="11057839" cy="914400"/>
          </a:xfrm>
          <a:prstGeom prst="roundRect">
            <a:avLst>
              <a:gd name="adj" fmla="val 10000"/>
            </a:avLst>
          </a:prstGeom>
          <a:solidFill>
            <a:srgbClr val="E4EFEF"/>
          </a:solidFill>
          <a:ln/>
        </p:spPr>
      </p:sp>
      <p:sp>
        <p:nvSpPr>
          <p:cNvPr id="10" name="Text 8"/>
          <p:cNvSpPr txBox="1"/>
          <p:nvPr/>
        </p:nvSpPr>
        <p:spPr>
          <a:xfrm>
            <a:off x="914400" y="4892040"/>
            <a:ext cx="10362895" cy="914400"/>
          </a:xfrm>
          <a:prstGeom prst="rect">
            <a:avLst/>
          </a:prstGeom>
          <a:noFill/>
          <a:ln/>
        </p:spPr>
        <p:txBody>
          <a:bodyPr wrap="square" lIns="0" tIns="0" rIns="0" bIns="0" rtlCol="0" anchor="ctr"/>
          <a:lstStyle/>
          <a:p>
            <a:pPr indent="0" marL="0">
              <a:buNone/>
            </a:pPr>
            <a:r>
              <a:rPr lang="en-US" sz="1700" dirty="0">
                <a:solidFill>
                  <a:srgbClr val="16211F"/>
                </a:solidFill>
                <a:latin typeface="Calibri" pitchFamily="34" charset="0"/>
                <a:ea typeface="Calibri" pitchFamily="34" charset="-122"/>
                <a:cs typeface="Calibri" pitchFamily="34" charset="-120"/>
              </a:rPr>
              <a:t>No food database has traffic light colours in it. That part is the diet, and the app does it on the device.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r>
              <a:rPr lang="en-US" sz="3400" b="1" dirty="0">
                <a:solidFill>
                  <a:srgbClr val="F7F6F2"/>
                </a:solidFill>
                <a:latin typeface="Cambria" pitchFamily="34" charset="0"/>
                <a:ea typeface="Cambria" pitchFamily="34" charset="-122"/>
                <a:cs typeface="Cambria" pitchFamily="34" charset="-120"/>
              </a:rPr>
              <a:t>Three questions, every time</a:t>
            </a:r>
            <a:endParaRPr lang="en-US" sz="3400" dirty="0"/>
          </a:p>
        </p:txBody>
      </p:sp>
      <p:sp>
        <p:nvSpPr>
          <p:cNvPr id="3" name="Shape 1"/>
          <p:cNvSpPr/>
          <p:nvPr/>
        </p:nvSpPr>
        <p:spPr>
          <a:xfrm>
            <a:off x="566928" y="1554480"/>
            <a:ext cx="3503066" cy="3291840"/>
          </a:xfrm>
          <a:prstGeom prst="roundRect">
            <a:avLst>
              <a:gd name="adj" fmla="val 2778"/>
            </a:avLst>
          </a:prstGeom>
          <a:solidFill>
            <a:srgbClr val="1E2D2A"/>
          </a:solidFill>
          <a:ln/>
        </p:spPr>
      </p:sp>
      <p:sp>
        <p:nvSpPr>
          <p:cNvPr id="4" name="Text 2"/>
          <p:cNvSpPr txBox="1"/>
          <p:nvPr/>
        </p:nvSpPr>
        <p:spPr>
          <a:xfrm>
            <a:off x="877824" y="1783080"/>
            <a:ext cx="1097280" cy="868680"/>
          </a:xfrm>
          <a:prstGeom prst="rect">
            <a:avLst/>
          </a:prstGeom>
          <a:noFill/>
          <a:ln/>
        </p:spPr>
        <p:txBody>
          <a:bodyPr wrap="square" lIns="0" tIns="0" rIns="0" bIns="0" rtlCol="0" anchor="ctr"/>
          <a:lstStyle/>
          <a:p>
            <a:pPr indent="0" marL="0">
              <a:buNone/>
            </a:pPr>
            <a:r>
              <a:rPr lang="en-US" sz="4400" b="1" dirty="0">
                <a:solidFill>
                  <a:srgbClr val="7FD0D2"/>
                </a:solidFill>
                <a:latin typeface="Cambria" pitchFamily="34" charset="0"/>
                <a:ea typeface="Cambria" pitchFamily="34" charset="-122"/>
                <a:cs typeface="Cambria" pitchFamily="34" charset="-120"/>
              </a:rPr>
              <a:t>1</a:t>
            </a:r>
            <a:endParaRPr lang="en-US" sz="4400" dirty="0"/>
          </a:p>
        </p:txBody>
      </p:sp>
      <p:sp>
        <p:nvSpPr>
          <p:cNvPr id="5" name="Text 3"/>
          <p:cNvSpPr txBox="1"/>
          <p:nvPr/>
        </p:nvSpPr>
        <p:spPr>
          <a:xfrm>
            <a:off x="877824" y="2697480"/>
            <a:ext cx="2881274" cy="731520"/>
          </a:xfrm>
          <a:prstGeom prst="rect">
            <a:avLst/>
          </a:prstGeom>
          <a:noFill/>
          <a:ln/>
        </p:spPr>
        <p:txBody>
          <a:bodyPr wrap="square" lIns="0" tIns="0" rIns="0" bIns="0" rtlCol="0" anchor="ctr"/>
          <a:lstStyle/>
          <a:p>
            <a:pPr indent="0" marL="0">
              <a:buNone/>
            </a:pPr>
            <a:r>
              <a:rPr lang="en-US" sz="2100" b="1" dirty="0">
                <a:solidFill>
                  <a:srgbClr val="F7F6F2"/>
                </a:solidFill>
                <a:latin typeface="Cambria" pitchFamily="34" charset="0"/>
                <a:ea typeface="Cambria" pitchFamily="34" charset="-122"/>
                <a:cs typeface="Cambria" pitchFamily="34" charset="-120"/>
              </a:rPr>
              <a:t>Which group?</a:t>
            </a:r>
            <a:endParaRPr lang="en-US" sz="2100" dirty="0"/>
          </a:p>
        </p:txBody>
      </p:sp>
      <p:sp>
        <p:nvSpPr>
          <p:cNvPr id="6" name="Text 4"/>
          <p:cNvSpPr txBox="1"/>
          <p:nvPr/>
        </p:nvSpPr>
        <p:spPr>
          <a:xfrm>
            <a:off x="877824" y="3520440"/>
            <a:ext cx="2881274" cy="1097280"/>
          </a:xfrm>
          <a:prstGeom prst="rect">
            <a:avLst/>
          </a:prstGeom>
          <a:noFill/>
          <a:ln/>
        </p:spPr>
        <p:txBody>
          <a:bodyPr wrap="square" lIns="0" tIns="0" rIns="0" bIns="0" rtlCol="0" anchor="ctr"/>
          <a:lstStyle/>
          <a:p>
            <a:pPr indent="0" marL="0">
              <a:buNone/>
            </a:pPr>
            <a:r>
              <a:rPr lang="en-US" sz="1500" dirty="0">
                <a:solidFill>
                  <a:srgbClr val="BFD8D5"/>
                </a:solidFill>
                <a:latin typeface="Calibri" pitchFamily="34" charset="0"/>
                <a:ea typeface="Calibri" pitchFamily="34" charset="-122"/>
                <a:cs typeface="Calibri" pitchFamily="34" charset="-120"/>
              </a:rPr>
              <a:t>Worked out from the name and the category. Seventeen to choose from.</a:t>
            </a:r>
            <a:endParaRPr lang="en-US" sz="1500" dirty="0"/>
          </a:p>
        </p:txBody>
      </p:sp>
      <p:sp>
        <p:nvSpPr>
          <p:cNvPr id="7" name="Shape 5"/>
          <p:cNvSpPr/>
          <p:nvPr/>
        </p:nvSpPr>
        <p:spPr>
          <a:xfrm>
            <a:off x="4344314" y="1554480"/>
            <a:ext cx="3503066" cy="3291840"/>
          </a:xfrm>
          <a:prstGeom prst="roundRect">
            <a:avLst>
              <a:gd name="adj" fmla="val 2778"/>
            </a:avLst>
          </a:prstGeom>
          <a:solidFill>
            <a:srgbClr val="1E2D2A"/>
          </a:solidFill>
          <a:ln/>
        </p:spPr>
      </p:sp>
      <p:sp>
        <p:nvSpPr>
          <p:cNvPr id="8" name="Text 6"/>
          <p:cNvSpPr txBox="1"/>
          <p:nvPr/>
        </p:nvSpPr>
        <p:spPr>
          <a:xfrm>
            <a:off x="4655210" y="1783080"/>
            <a:ext cx="1097280" cy="868680"/>
          </a:xfrm>
          <a:prstGeom prst="rect">
            <a:avLst/>
          </a:prstGeom>
          <a:noFill/>
          <a:ln/>
        </p:spPr>
        <p:txBody>
          <a:bodyPr wrap="square" lIns="0" tIns="0" rIns="0" bIns="0" rtlCol="0" anchor="ctr"/>
          <a:lstStyle/>
          <a:p>
            <a:pPr indent="0" marL="0">
              <a:buNone/>
            </a:pPr>
            <a:r>
              <a:rPr lang="en-US" sz="4400" b="1" dirty="0">
                <a:solidFill>
                  <a:srgbClr val="7FD0D2"/>
                </a:solidFill>
                <a:latin typeface="Cambria" pitchFamily="34" charset="0"/>
                <a:ea typeface="Cambria" pitchFamily="34" charset="-122"/>
                <a:cs typeface="Cambria" pitchFamily="34" charset="-120"/>
              </a:rPr>
              <a:t>2</a:t>
            </a:r>
            <a:endParaRPr lang="en-US" sz="4400" dirty="0"/>
          </a:p>
        </p:txBody>
      </p:sp>
      <p:sp>
        <p:nvSpPr>
          <p:cNvPr id="9" name="Text 7"/>
          <p:cNvSpPr txBox="1"/>
          <p:nvPr/>
        </p:nvSpPr>
        <p:spPr>
          <a:xfrm>
            <a:off x="4655210" y="2697480"/>
            <a:ext cx="2881274" cy="731520"/>
          </a:xfrm>
          <a:prstGeom prst="rect">
            <a:avLst/>
          </a:prstGeom>
          <a:noFill/>
          <a:ln/>
        </p:spPr>
        <p:txBody>
          <a:bodyPr wrap="square" lIns="0" tIns="0" rIns="0" bIns="0" rtlCol="0" anchor="ctr"/>
          <a:lstStyle/>
          <a:p>
            <a:pPr indent="0" marL="0">
              <a:buNone/>
            </a:pPr>
            <a:r>
              <a:rPr lang="en-US" sz="2100" b="1" dirty="0">
                <a:solidFill>
                  <a:srgbClr val="F7F6F2"/>
                </a:solidFill>
                <a:latin typeface="Cambria" pitchFamily="34" charset="0"/>
                <a:ea typeface="Cambria" pitchFamily="34" charset="-122"/>
                <a:cs typeface="Cambria" pitchFamily="34" charset="-120"/>
              </a:rPr>
              <a:t>How many calories?</a:t>
            </a:r>
            <a:endParaRPr lang="en-US" sz="2100" dirty="0"/>
          </a:p>
        </p:txBody>
      </p:sp>
      <p:sp>
        <p:nvSpPr>
          <p:cNvPr id="10" name="Text 8"/>
          <p:cNvSpPr txBox="1"/>
          <p:nvPr/>
        </p:nvSpPr>
        <p:spPr>
          <a:xfrm>
            <a:off x="4655210" y="3520440"/>
            <a:ext cx="2881274" cy="1097280"/>
          </a:xfrm>
          <a:prstGeom prst="rect">
            <a:avLst/>
          </a:prstGeom>
          <a:noFill/>
          <a:ln/>
        </p:spPr>
        <p:txBody>
          <a:bodyPr wrap="square" lIns="0" tIns="0" rIns="0" bIns="0" rtlCol="0" anchor="ctr"/>
          <a:lstStyle/>
          <a:p>
            <a:pPr indent="0" marL="0">
              <a:buNone/>
            </a:pPr>
            <a:r>
              <a:rPr lang="en-US" sz="1500" dirty="0">
                <a:solidFill>
                  <a:srgbClr val="BFD8D5"/>
                </a:solidFill>
                <a:latin typeface="Calibri" pitchFamily="34" charset="0"/>
                <a:ea typeface="Calibri" pitchFamily="34" charset="-122"/>
                <a:cs typeface="Calibri" pitchFamily="34" charset="-120"/>
              </a:rPr>
              <a:t>In the diet's serving for that group, which is often not the package's.</a:t>
            </a:r>
            <a:endParaRPr lang="en-US" sz="1500" dirty="0"/>
          </a:p>
        </p:txBody>
      </p:sp>
      <p:sp>
        <p:nvSpPr>
          <p:cNvPr id="11" name="Shape 9"/>
          <p:cNvSpPr/>
          <p:nvPr/>
        </p:nvSpPr>
        <p:spPr>
          <a:xfrm>
            <a:off x="8121701" y="1554480"/>
            <a:ext cx="3503066" cy="3291840"/>
          </a:xfrm>
          <a:prstGeom prst="roundRect">
            <a:avLst>
              <a:gd name="adj" fmla="val 2778"/>
            </a:avLst>
          </a:prstGeom>
          <a:solidFill>
            <a:srgbClr val="1E2D2A"/>
          </a:solidFill>
          <a:ln/>
        </p:spPr>
      </p:sp>
      <p:sp>
        <p:nvSpPr>
          <p:cNvPr id="12" name="Text 10"/>
          <p:cNvSpPr txBox="1"/>
          <p:nvPr/>
        </p:nvSpPr>
        <p:spPr>
          <a:xfrm>
            <a:off x="8432597" y="1783080"/>
            <a:ext cx="1097280" cy="868680"/>
          </a:xfrm>
          <a:prstGeom prst="rect">
            <a:avLst/>
          </a:prstGeom>
          <a:noFill/>
          <a:ln/>
        </p:spPr>
        <p:txBody>
          <a:bodyPr wrap="square" lIns="0" tIns="0" rIns="0" bIns="0" rtlCol="0" anchor="ctr"/>
          <a:lstStyle/>
          <a:p>
            <a:pPr indent="0" marL="0">
              <a:buNone/>
            </a:pPr>
            <a:r>
              <a:rPr lang="en-US" sz="4400" b="1" dirty="0">
                <a:solidFill>
                  <a:srgbClr val="7FD0D2"/>
                </a:solidFill>
                <a:latin typeface="Cambria" pitchFamily="34" charset="0"/>
                <a:ea typeface="Cambria" pitchFamily="34" charset="-122"/>
                <a:cs typeface="Cambria" pitchFamily="34" charset="-120"/>
              </a:rPr>
              <a:t>3</a:t>
            </a:r>
            <a:endParaRPr lang="en-US" sz="4400" dirty="0"/>
          </a:p>
        </p:txBody>
      </p:sp>
      <p:sp>
        <p:nvSpPr>
          <p:cNvPr id="13" name="Text 11"/>
          <p:cNvSpPr txBox="1"/>
          <p:nvPr/>
        </p:nvSpPr>
        <p:spPr>
          <a:xfrm>
            <a:off x="8432597" y="2697480"/>
            <a:ext cx="2881274" cy="731520"/>
          </a:xfrm>
          <a:prstGeom prst="rect">
            <a:avLst/>
          </a:prstGeom>
          <a:noFill/>
          <a:ln/>
        </p:spPr>
        <p:txBody>
          <a:bodyPr wrap="square" lIns="0" tIns="0" rIns="0" bIns="0" rtlCol="0" anchor="ctr"/>
          <a:lstStyle/>
          <a:p>
            <a:pPr indent="0" marL="0">
              <a:buNone/>
            </a:pPr>
            <a:r>
              <a:rPr lang="en-US" sz="2100" b="1" dirty="0">
                <a:solidFill>
                  <a:srgbClr val="F7F6F2"/>
                </a:solidFill>
                <a:latin typeface="Cambria" pitchFamily="34" charset="0"/>
                <a:ea typeface="Cambria" pitchFamily="34" charset="-122"/>
                <a:cs typeface="Cambria" pitchFamily="34" charset="-120"/>
              </a:rPr>
              <a:t>Which side of the line?</a:t>
            </a:r>
            <a:endParaRPr lang="en-US" sz="2100" dirty="0"/>
          </a:p>
        </p:txBody>
      </p:sp>
      <p:sp>
        <p:nvSpPr>
          <p:cNvPr id="14" name="Text 12"/>
          <p:cNvSpPr txBox="1"/>
          <p:nvPr/>
        </p:nvSpPr>
        <p:spPr>
          <a:xfrm>
            <a:off x="8432597" y="3520440"/>
            <a:ext cx="2881274" cy="1097280"/>
          </a:xfrm>
          <a:prstGeom prst="rect">
            <a:avLst/>
          </a:prstGeom>
          <a:noFill/>
          <a:ln/>
        </p:spPr>
        <p:txBody>
          <a:bodyPr wrap="square" lIns="0" tIns="0" rIns="0" bIns="0" rtlCol="0" anchor="ctr"/>
          <a:lstStyle/>
          <a:p>
            <a:pPr indent="0" marL="0">
              <a:buNone/>
            </a:pPr>
            <a:r>
              <a:rPr lang="en-US" sz="1500" dirty="0">
                <a:solidFill>
                  <a:srgbClr val="BFD8D5"/>
                </a:solidFill>
                <a:latin typeface="Calibri" pitchFamily="34" charset="0"/>
                <a:ea typeface="Calibri" pitchFamily="34" charset="-122"/>
                <a:cs typeface="Calibri" pitchFamily="34" charset="-120"/>
              </a:rPr>
              <a:t>Every group has its own line. The next slide shows all of them.</a:t>
            </a:r>
            <a:endParaRPr lang="en-US" sz="1500" dirty="0"/>
          </a:p>
        </p:txBody>
      </p:sp>
      <p:sp>
        <p:nvSpPr>
          <p:cNvPr id="15" name="Text 13"/>
          <p:cNvSpPr txBox="1"/>
          <p:nvPr/>
        </p:nvSpPr>
        <p:spPr>
          <a:xfrm>
            <a:off x="566928" y="5166360"/>
            <a:ext cx="11057839" cy="457200"/>
          </a:xfrm>
          <a:prstGeom prst="rect">
            <a:avLst/>
          </a:prstGeom>
          <a:noFill/>
          <a:ln/>
        </p:spPr>
        <p:txBody>
          <a:bodyPr wrap="square" lIns="0" tIns="0" rIns="0" bIns="0" rtlCol="0" anchor="ctr"/>
          <a:lstStyle/>
          <a:p>
            <a:pPr indent="0" marL="0">
              <a:buNone/>
            </a:pPr>
            <a:r>
              <a:rPr lang="en-US" sz="1700" dirty="0">
                <a:solidFill>
                  <a:srgbClr val="BFD8D5"/>
                </a:solidFill>
                <a:latin typeface="Calibri" pitchFamily="34" charset="0"/>
                <a:ea typeface="Calibri" pitchFamily="34" charset="-122"/>
                <a:cs typeface="Calibri" pitchFamily="34" charset="-120"/>
              </a:rPr>
              <a:t>Question 1 is where the difficulty lives. Questions 2 and 3 are arithmetic.</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r>
              <a:rPr lang="en-US" sz="3400" b="1" dirty="0">
                <a:solidFill>
                  <a:srgbClr val="16211F"/>
                </a:solidFill>
                <a:latin typeface="Cambria" pitchFamily="34" charset="0"/>
                <a:ea typeface="Cambria" pitchFamily="34" charset="-122"/>
                <a:cs typeface="Cambria" pitchFamily="34" charset="-120"/>
              </a:rPr>
              <a:t>All seventeen groups, drawn to one scale</a:t>
            </a:r>
            <a:endParaRPr lang="en-US" sz="3400" dirty="0"/>
          </a:p>
        </p:txBody>
      </p:sp>
      <p:sp>
        <p:nvSpPr>
          <p:cNvPr id="3" name="Text 1"/>
          <p:cNvSpPr txBox="1"/>
          <p:nvPr/>
        </p:nvSpPr>
        <p:spPr>
          <a:xfrm>
            <a:off x="566928" y="1280160"/>
            <a:ext cx="2057400" cy="219456"/>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calories per serving</a:t>
            </a:r>
            <a:endParaRPr lang="en-US" sz="1000" dirty="0"/>
          </a:p>
        </p:txBody>
      </p:sp>
      <p:sp>
        <p:nvSpPr>
          <p:cNvPr id="4" name="Text 2"/>
          <p:cNvSpPr txBox="1"/>
          <p:nvPr/>
        </p:nvSpPr>
        <p:spPr>
          <a:xfrm>
            <a:off x="2807208" y="1280160"/>
            <a:ext cx="365760" cy="219456"/>
          </a:xfrm>
          <a:prstGeom prst="rect">
            <a:avLst/>
          </a:prstGeom>
          <a:noFill/>
          <a:ln/>
        </p:spPr>
        <p:txBody>
          <a:bodyPr wrap="square" lIns="0" tIns="0" rIns="0" bIns="0" rtlCol="0" anchor="ctr"/>
          <a:lstStyle/>
          <a:p>
            <a:pPr algn="l" indent="0" marL="0">
              <a:buNone/>
            </a:pPr>
            <a:r>
              <a:rPr lang="en-US" sz="1000" dirty="0">
                <a:solidFill>
                  <a:srgbClr val="6A7179"/>
                </a:solidFill>
                <a:latin typeface="Calibri" pitchFamily="34" charset="0"/>
                <a:ea typeface="Calibri" pitchFamily="34" charset="-122"/>
                <a:cs typeface="Calibri" pitchFamily="34" charset="-120"/>
              </a:rPr>
              <a:t>0</a:t>
            </a:r>
            <a:endParaRPr lang="en-US" sz="1000" dirty="0"/>
          </a:p>
        </p:txBody>
      </p:sp>
      <p:sp>
        <p:nvSpPr>
          <p:cNvPr id="5" name="Text 3"/>
          <p:cNvSpPr txBox="1"/>
          <p:nvPr/>
        </p:nvSpPr>
        <p:spPr>
          <a:xfrm>
            <a:off x="4160520" y="1280160"/>
            <a:ext cx="365760" cy="219456"/>
          </a:xfrm>
          <a:prstGeom prst="rect">
            <a:avLst/>
          </a:prstGeom>
          <a:noFill/>
          <a:ln/>
        </p:spPr>
        <p:txBody>
          <a:bodyPr wrap="square" lIns="0" tIns="0" rIns="0" bIns="0" rtlCol="0" anchor="ctr"/>
          <a:lstStyle/>
          <a:p>
            <a:pPr algn="ctr" indent="0" marL="0">
              <a:buNone/>
            </a:pPr>
            <a:r>
              <a:rPr lang="en-US" sz="1000" dirty="0">
                <a:solidFill>
                  <a:srgbClr val="6A7179"/>
                </a:solidFill>
                <a:latin typeface="Calibri" pitchFamily="34" charset="0"/>
                <a:ea typeface="Calibri" pitchFamily="34" charset="-122"/>
                <a:cs typeface="Calibri" pitchFamily="34" charset="-120"/>
              </a:rPr>
              <a:t>60</a:t>
            </a:r>
            <a:endParaRPr lang="en-US" sz="1000" dirty="0"/>
          </a:p>
        </p:txBody>
      </p:sp>
      <p:sp>
        <p:nvSpPr>
          <p:cNvPr id="6" name="Text 4"/>
          <p:cNvSpPr txBox="1"/>
          <p:nvPr/>
        </p:nvSpPr>
        <p:spPr>
          <a:xfrm>
            <a:off x="5669280" y="1280160"/>
            <a:ext cx="365760" cy="219456"/>
          </a:xfrm>
          <a:prstGeom prst="rect">
            <a:avLst/>
          </a:prstGeom>
          <a:noFill/>
          <a:ln/>
        </p:spPr>
        <p:txBody>
          <a:bodyPr wrap="square" lIns="0" tIns="0" rIns="0" bIns="0" rtlCol="0" anchor="ctr"/>
          <a:lstStyle/>
          <a:p>
            <a:pPr algn="ctr" indent="0" marL="0">
              <a:buNone/>
            </a:pPr>
            <a:r>
              <a:rPr lang="en-US" sz="1000" dirty="0">
                <a:solidFill>
                  <a:srgbClr val="6A7179"/>
                </a:solidFill>
                <a:latin typeface="Calibri" pitchFamily="34" charset="0"/>
                <a:ea typeface="Calibri" pitchFamily="34" charset="-122"/>
                <a:cs typeface="Calibri" pitchFamily="34" charset="-120"/>
              </a:rPr>
              <a:t>120</a:t>
            </a:r>
            <a:endParaRPr lang="en-US" sz="1000" dirty="0"/>
          </a:p>
        </p:txBody>
      </p:sp>
      <p:sp>
        <p:nvSpPr>
          <p:cNvPr id="7" name="Text 5"/>
          <p:cNvSpPr txBox="1"/>
          <p:nvPr/>
        </p:nvSpPr>
        <p:spPr>
          <a:xfrm>
            <a:off x="7178040" y="1280160"/>
            <a:ext cx="365760" cy="219456"/>
          </a:xfrm>
          <a:prstGeom prst="rect">
            <a:avLst/>
          </a:prstGeom>
          <a:noFill/>
          <a:ln/>
        </p:spPr>
        <p:txBody>
          <a:bodyPr wrap="square" lIns="0" tIns="0" rIns="0" bIns="0" rtlCol="0" anchor="ctr"/>
          <a:lstStyle/>
          <a:p>
            <a:pPr algn="ctr" indent="0" marL="0">
              <a:buNone/>
            </a:pPr>
            <a:r>
              <a:rPr lang="en-US" sz="1000" dirty="0">
                <a:solidFill>
                  <a:srgbClr val="6A7179"/>
                </a:solidFill>
                <a:latin typeface="Calibri" pitchFamily="34" charset="0"/>
                <a:ea typeface="Calibri" pitchFamily="34" charset="-122"/>
                <a:cs typeface="Calibri" pitchFamily="34" charset="-120"/>
              </a:rPr>
              <a:t>180</a:t>
            </a:r>
            <a:endParaRPr lang="en-US" sz="1000" dirty="0"/>
          </a:p>
        </p:txBody>
      </p:sp>
      <p:sp>
        <p:nvSpPr>
          <p:cNvPr id="8" name="Text 6"/>
          <p:cNvSpPr txBox="1"/>
          <p:nvPr/>
        </p:nvSpPr>
        <p:spPr>
          <a:xfrm>
            <a:off x="8531352" y="1280160"/>
            <a:ext cx="365760" cy="219456"/>
          </a:xfrm>
          <a:prstGeom prst="rect">
            <a:avLst/>
          </a:prstGeom>
          <a:noFill/>
          <a:ln/>
        </p:spPr>
        <p:txBody>
          <a:bodyPr wrap="square" lIns="0" tIns="0" rIns="0" bIns="0" rtlCol="0" anchor="ctr"/>
          <a:lstStyle/>
          <a:p>
            <a:pPr algn="r" indent="0" marL="0">
              <a:buNone/>
            </a:pPr>
            <a:r>
              <a:rPr lang="en-US" sz="1000" dirty="0">
                <a:solidFill>
                  <a:srgbClr val="6A7179"/>
                </a:solidFill>
                <a:latin typeface="Calibri" pitchFamily="34" charset="0"/>
                <a:ea typeface="Calibri" pitchFamily="34" charset="-122"/>
                <a:cs typeface="Calibri" pitchFamily="34" charset="-120"/>
              </a:rPr>
              <a:t>240</a:t>
            </a:r>
            <a:endParaRPr lang="en-US" sz="1000" dirty="0"/>
          </a:p>
        </p:txBody>
      </p:sp>
      <p:sp>
        <p:nvSpPr>
          <p:cNvPr id="9" name="Text 7"/>
          <p:cNvSpPr txBox="1"/>
          <p:nvPr/>
        </p:nvSpPr>
        <p:spPr>
          <a:xfrm>
            <a:off x="9025128" y="1280160"/>
            <a:ext cx="2377440" cy="219456"/>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serving used</a:t>
            </a:r>
            <a:endParaRPr lang="en-US" sz="1000" dirty="0"/>
          </a:p>
        </p:txBody>
      </p:sp>
      <p:sp>
        <p:nvSpPr>
          <p:cNvPr id="10" name="Text 8"/>
          <p:cNvSpPr txBox="1"/>
          <p:nvPr/>
        </p:nvSpPr>
        <p:spPr>
          <a:xfrm>
            <a:off x="566928" y="1572768"/>
            <a:ext cx="2057400" cy="196596"/>
          </a:xfrm>
          <a:prstGeom prst="rect">
            <a:avLst/>
          </a:prstGeom>
          <a:noFill/>
          <a:ln/>
        </p:spPr>
        <p:txBody>
          <a:bodyPr wrap="square" lIns="0" tIns="0" rIns="0" bIns="0" rtlCol="0" anchor="ctr"/>
          <a:lstStyle/>
          <a:p>
            <a:pPr indent="0" marL="0">
              <a:buNone/>
            </a:pPr>
            <a:r>
              <a:rPr lang="en-US" sz="1100" b="1" dirty="0">
                <a:solidFill>
                  <a:srgbClr val="16211F"/>
                </a:solidFill>
                <a:latin typeface="Calibri" pitchFamily="34" charset="0"/>
                <a:ea typeface="Calibri" pitchFamily="34" charset="-122"/>
                <a:cs typeface="Calibri" pitchFamily="34" charset="-120"/>
              </a:rPr>
              <a:t>Vegetables</a:t>
            </a:r>
            <a:endParaRPr lang="en-US" sz="1100" dirty="0"/>
          </a:p>
        </p:txBody>
      </p:sp>
      <p:sp>
        <p:nvSpPr>
          <p:cNvPr id="11" name="Shape 9"/>
          <p:cNvSpPr/>
          <p:nvPr/>
        </p:nvSpPr>
        <p:spPr>
          <a:xfrm>
            <a:off x="2807208" y="1591056"/>
            <a:ext cx="754380" cy="141732"/>
          </a:xfrm>
          <a:prstGeom prst="rect">
            <a:avLst/>
          </a:prstGeom>
          <a:solidFill>
            <a:srgbClr val="1E7A34"/>
          </a:solidFill>
          <a:ln/>
        </p:spPr>
      </p:sp>
      <p:sp>
        <p:nvSpPr>
          <p:cNvPr id="12" name="Shape 10"/>
          <p:cNvSpPr/>
          <p:nvPr/>
        </p:nvSpPr>
        <p:spPr>
          <a:xfrm>
            <a:off x="3561588" y="1591056"/>
            <a:ext cx="377190" cy="141732"/>
          </a:xfrm>
          <a:prstGeom prst="rect">
            <a:avLst/>
          </a:prstGeom>
          <a:solidFill>
            <a:srgbClr val="C08A00"/>
          </a:solidFill>
          <a:ln/>
        </p:spPr>
      </p:sp>
      <p:sp>
        <p:nvSpPr>
          <p:cNvPr id="13" name="Shape 11"/>
          <p:cNvSpPr/>
          <p:nvPr/>
        </p:nvSpPr>
        <p:spPr>
          <a:xfrm>
            <a:off x="3938778" y="1591056"/>
            <a:ext cx="4903470" cy="141732"/>
          </a:xfrm>
          <a:prstGeom prst="rect">
            <a:avLst/>
          </a:prstGeom>
          <a:solidFill>
            <a:srgbClr val="B3261E"/>
          </a:solidFill>
          <a:ln/>
        </p:spPr>
      </p:sp>
      <p:sp>
        <p:nvSpPr>
          <p:cNvPr id="14" name="Text 12"/>
          <p:cNvSpPr txBox="1"/>
          <p:nvPr/>
        </p:nvSpPr>
        <p:spPr>
          <a:xfrm>
            <a:off x="9025128" y="1572768"/>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1/2 cup</a:t>
            </a:r>
            <a:endParaRPr lang="en-US" sz="1100" dirty="0"/>
          </a:p>
        </p:txBody>
      </p:sp>
      <p:sp>
        <p:nvSpPr>
          <p:cNvPr id="15" name="Text 13"/>
          <p:cNvSpPr txBox="1"/>
          <p:nvPr/>
        </p:nvSpPr>
        <p:spPr>
          <a:xfrm>
            <a:off x="566928" y="1815084"/>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Starchy vegetables</a:t>
            </a:r>
            <a:endParaRPr lang="en-US" sz="1100" dirty="0"/>
          </a:p>
        </p:txBody>
      </p:sp>
      <p:sp>
        <p:nvSpPr>
          <p:cNvPr id="16" name="Shape 14"/>
          <p:cNvSpPr/>
          <p:nvPr/>
        </p:nvSpPr>
        <p:spPr>
          <a:xfrm>
            <a:off x="2807208" y="1833372"/>
            <a:ext cx="3017520" cy="141732"/>
          </a:xfrm>
          <a:prstGeom prst="rect">
            <a:avLst/>
          </a:prstGeom>
          <a:solidFill>
            <a:srgbClr val="C08A00"/>
          </a:solidFill>
          <a:ln/>
        </p:spPr>
      </p:sp>
      <p:sp>
        <p:nvSpPr>
          <p:cNvPr id="17" name="Shape 15"/>
          <p:cNvSpPr/>
          <p:nvPr/>
        </p:nvSpPr>
        <p:spPr>
          <a:xfrm>
            <a:off x="5824728" y="1833372"/>
            <a:ext cx="3017520" cy="141732"/>
          </a:xfrm>
          <a:prstGeom prst="rect">
            <a:avLst/>
          </a:prstGeom>
          <a:solidFill>
            <a:srgbClr val="B3261E"/>
          </a:solidFill>
          <a:ln/>
        </p:spPr>
      </p:sp>
      <p:sp>
        <p:nvSpPr>
          <p:cNvPr id="18" name="Text 16"/>
          <p:cNvSpPr txBox="1"/>
          <p:nvPr/>
        </p:nvSpPr>
        <p:spPr>
          <a:xfrm>
            <a:off x="9025128" y="1815084"/>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1/2 cup</a:t>
            </a:r>
            <a:endParaRPr lang="en-US" sz="1100" dirty="0"/>
          </a:p>
        </p:txBody>
      </p:sp>
      <p:sp>
        <p:nvSpPr>
          <p:cNvPr id="19" name="Text 17"/>
          <p:cNvSpPr txBox="1"/>
          <p:nvPr/>
        </p:nvSpPr>
        <p:spPr>
          <a:xfrm>
            <a:off x="566928" y="2057400"/>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Fruit</a:t>
            </a:r>
            <a:endParaRPr lang="en-US" sz="1100" dirty="0"/>
          </a:p>
        </p:txBody>
      </p:sp>
      <p:sp>
        <p:nvSpPr>
          <p:cNvPr id="20" name="Shape 18"/>
          <p:cNvSpPr/>
          <p:nvPr/>
        </p:nvSpPr>
        <p:spPr>
          <a:xfrm>
            <a:off x="2807208" y="2075688"/>
            <a:ext cx="2263140" cy="141732"/>
          </a:xfrm>
          <a:prstGeom prst="rect">
            <a:avLst/>
          </a:prstGeom>
          <a:solidFill>
            <a:srgbClr val="C08A00"/>
          </a:solidFill>
          <a:ln/>
        </p:spPr>
      </p:sp>
      <p:sp>
        <p:nvSpPr>
          <p:cNvPr id="21" name="Shape 19"/>
          <p:cNvSpPr/>
          <p:nvPr/>
        </p:nvSpPr>
        <p:spPr>
          <a:xfrm>
            <a:off x="5070348" y="2075688"/>
            <a:ext cx="3771900" cy="141732"/>
          </a:xfrm>
          <a:prstGeom prst="rect">
            <a:avLst/>
          </a:prstGeom>
          <a:solidFill>
            <a:srgbClr val="B3261E"/>
          </a:solidFill>
          <a:ln/>
        </p:spPr>
      </p:sp>
      <p:sp>
        <p:nvSpPr>
          <p:cNvPr id="22" name="Text 20"/>
          <p:cNvSpPr txBox="1"/>
          <p:nvPr/>
        </p:nvSpPr>
        <p:spPr>
          <a:xfrm>
            <a:off x="9025128" y="2057400"/>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piece or 1/2 cup</a:t>
            </a:r>
            <a:endParaRPr lang="en-US" sz="1100" dirty="0"/>
          </a:p>
        </p:txBody>
      </p:sp>
      <p:sp>
        <p:nvSpPr>
          <p:cNvPr id="23" name="Text 21"/>
          <p:cNvSpPr txBox="1"/>
          <p:nvPr/>
        </p:nvSpPr>
        <p:spPr>
          <a:xfrm>
            <a:off x="566928" y="2299716"/>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Juice and dried fruit</a:t>
            </a:r>
            <a:endParaRPr lang="en-US" sz="1100" dirty="0"/>
          </a:p>
        </p:txBody>
      </p:sp>
      <p:sp>
        <p:nvSpPr>
          <p:cNvPr id="24" name="Shape 22"/>
          <p:cNvSpPr/>
          <p:nvPr/>
        </p:nvSpPr>
        <p:spPr>
          <a:xfrm>
            <a:off x="2807208" y="2318004"/>
            <a:ext cx="6035040" cy="141732"/>
          </a:xfrm>
          <a:prstGeom prst="rect">
            <a:avLst/>
          </a:prstGeom>
          <a:solidFill>
            <a:srgbClr val="B3261E"/>
          </a:solidFill>
          <a:ln/>
        </p:spPr>
      </p:sp>
      <p:sp>
        <p:nvSpPr>
          <p:cNvPr id="25" name="Text 23"/>
          <p:cNvSpPr txBox="1"/>
          <p:nvPr/>
        </p:nvSpPr>
        <p:spPr>
          <a:xfrm>
            <a:off x="9025128" y="2299716"/>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always red</a:t>
            </a:r>
            <a:endParaRPr lang="en-US" sz="1100" dirty="0"/>
          </a:p>
        </p:txBody>
      </p:sp>
      <p:sp>
        <p:nvSpPr>
          <p:cNvPr id="26" name="Text 24"/>
          <p:cNvSpPr txBox="1"/>
          <p:nvPr/>
        </p:nvSpPr>
        <p:spPr>
          <a:xfrm>
            <a:off x="566928" y="2542032"/>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Grains</a:t>
            </a:r>
            <a:endParaRPr lang="en-US" sz="1100" dirty="0"/>
          </a:p>
        </p:txBody>
      </p:sp>
      <p:sp>
        <p:nvSpPr>
          <p:cNvPr id="27" name="Shape 25"/>
          <p:cNvSpPr/>
          <p:nvPr/>
        </p:nvSpPr>
        <p:spPr>
          <a:xfrm>
            <a:off x="2807208" y="2560320"/>
            <a:ext cx="3017520" cy="141732"/>
          </a:xfrm>
          <a:prstGeom prst="rect">
            <a:avLst/>
          </a:prstGeom>
          <a:solidFill>
            <a:srgbClr val="C08A00"/>
          </a:solidFill>
          <a:ln/>
        </p:spPr>
      </p:sp>
      <p:sp>
        <p:nvSpPr>
          <p:cNvPr id="28" name="Shape 26"/>
          <p:cNvSpPr/>
          <p:nvPr/>
        </p:nvSpPr>
        <p:spPr>
          <a:xfrm>
            <a:off x="5824728" y="2560320"/>
            <a:ext cx="3017520" cy="141732"/>
          </a:xfrm>
          <a:prstGeom prst="rect">
            <a:avLst/>
          </a:prstGeom>
          <a:solidFill>
            <a:srgbClr val="B3261E"/>
          </a:solidFill>
          <a:ln/>
        </p:spPr>
      </p:sp>
      <p:sp>
        <p:nvSpPr>
          <p:cNvPr id="29" name="Text 27"/>
          <p:cNvSpPr txBox="1"/>
          <p:nvPr/>
        </p:nvSpPr>
        <p:spPr>
          <a:xfrm>
            <a:off x="9025128" y="2542032"/>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oz</a:t>
            </a:r>
            <a:endParaRPr lang="en-US" sz="1100" dirty="0"/>
          </a:p>
        </p:txBody>
      </p:sp>
      <p:sp>
        <p:nvSpPr>
          <p:cNvPr id="30" name="Text 28"/>
          <p:cNvSpPr txBox="1"/>
          <p:nvPr/>
        </p:nvSpPr>
        <p:spPr>
          <a:xfrm>
            <a:off x="566928" y="2784348"/>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Cold cereal</a:t>
            </a:r>
            <a:endParaRPr lang="en-US" sz="1100" dirty="0"/>
          </a:p>
        </p:txBody>
      </p:sp>
      <p:sp>
        <p:nvSpPr>
          <p:cNvPr id="31" name="Shape 29"/>
          <p:cNvSpPr/>
          <p:nvPr/>
        </p:nvSpPr>
        <p:spPr>
          <a:xfrm>
            <a:off x="2807208" y="2802636"/>
            <a:ext cx="3017520" cy="141732"/>
          </a:xfrm>
          <a:prstGeom prst="rect">
            <a:avLst/>
          </a:prstGeom>
          <a:solidFill>
            <a:srgbClr val="C08A00"/>
          </a:solidFill>
          <a:ln/>
        </p:spPr>
      </p:sp>
      <p:sp>
        <p:nvSpPr>
          <p:cNvPr id="32" name="Shape 30"/>
          <p:cNvSpPr/>
          <p:nvPr/>
        </p:nvSpPr>
        <p:spPr>
          <a:xfrm>
            <a:off x="5824728" y="2802636"/>
            <a:ext cx="3017520" cy="141732"/>
          </a:xfrm>
          <a:prstGeom prst="rect">
            <a:avLst/>
          </a:prstGeom>
          <a:solidFill>
            <a:srgbClr val="B3261E"/>
          </a:solidFill>
          <a:ln/>
        </p:spPr>
      </p:sp>
      <p:sp>
        <p:nvSpPr>
          <p:cNvPr id="33" name="Text 31"/>
          <p:cNvSpPr txBox="1"/>
          <p:nvPr/>
        </p:nvSpPr>
        <p:spPr>
          <a:xfrm>
            <a:off x="9025128" y="2784348"/>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cup, plus sugar rule</a:t>
            </a:r>
            <a:endParaRPr lang="en-US" sz="1100" dirty="0"/>
          </a:p>
        </p:txBody>
      </p:sp>
      <p:sp>
        <p:nvSpPr>
          <p:cNvPr id="34" name="Text 32"/>
          <p:cNvSpPr txBox="1"/>
          <p:nvPr/>
        </p:nvSpPr>
        <p:spPr>
          <a:xfrm>
            <a:off x="566928" y="3026664"/>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Cheese</a:t>
            </a:r>
            <a:endParaRPr lang="en-US" sz="1100" dirty="0"/>
          </a:p>
        </p:txBody>
      </p:sp>
      <p:sp>
        <p:nvSpPr>
          <p:cNvPr id="35" name="Shape 33"/>
          <p:cNvSpPr/>
          <p:nvPr/>
        </p:nvSpPr>
        <p:spPr>
          <a:xfrm>
            <a:off x="2807208" y="3044952"/>
            <a:ext cx="2087118" cy="141732"/>
          </a:xfrm>
          <a:prstGeom prst="rect">
            <a:avLst/>
          </a:prstGeom>
          <a:solidFill>
            <a:srgbClr val="C08A00"/>
          </a:solidFill>
          <a:ln/>
        </p:spPr>
      </p:sp>
      <p:sp>
        <p:nvSpPr>
          <p:cNvPr id="36" name="Shape 34"/>
          <p:cNvSpPr/>
          <p:nvPr/>
        </p:nvSpPr>
        <p:spPr>
          <a:xfrm>
            <a:off x="4894326" y="3044952"/>
            <a:ext cx="3947922" cy="141732"/>
          </a:xfrm>
          <a:prstGeom prst="rect">
            <a:avLst/>
          </a:prstGeom>
          <a:solidFill>
            <a:srgbClr val="B3261E"/>
          </a:solidFill>
          <a:ln/>
        </p:spPr>
      </p:sp>
      <p:sp>
        <p:nvSpPr>
          <p:cNvPr id="37" name="Text 35"/>
          <p:cNvSpPr txBox="1"/>
          <p:nvPr/>
        </p:nvSpPr>
        <p:spPr>
          <a:xfrm>
            <a:off x="9025128" y="3026664"/>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oz</a:t>
            </a:r>
            <a:endParaRPr lang="en-US" sz="1100" dirty="0"/>
          </a:p>
        </p:txBody>
      </p:sp>
      <p:sp>
        <p:nvSpPr>
          <p:cNvPr id="38" name="Text 36"/>
          <p:cNvSpPr txBox="1"/>
          <p:nvPr/>
        </p:nvSpPr>
        <p:spPr>
          <a:xfrm>
            <a:off x="566928" y="3268980"/>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Milk, yogurt, dairy</a:t>
            </a:r>
            <a:endParaRPr lang="en-US" sz="1100" dirty="0"/>
          </a:p>
        </p:txBody>
      </p:sp>
      <p:sp>
        <p:nvSpPr>
          <p:cNvPr id="39" name="Shape 37"/>
          <p:cNvSpPr/>
          <p:nvPr/>
        </p:nvSpPr>
        <p:spPr>
          <a:xfrm>
            <a:off x="2807208" y="3287268"/>
            <a:ext cx="3394710" cy="141732"/>
          </a:xfrm>
          <a:prstGeom prst="rect">
            <a:avLst/>
          </a:prstGeom>
          <a:solidFill>
            <a:srgbClr val="C08A00"/>
          </a:solidFill>
          <a:ln/>
        </p:spPr>
      </p:sp>
      <p:sp>
        <p:nvSpPr>
          <p:cNvPr id="40" name="Shape 38"/>
          <p:cNvSpPr/>
          <p:nvPr/>
        </p:nvSpPr>
        <p:spPr>
          <a:xfrm>
            <a:off x="6201918" y="3287268"/>
            <a:ext cx="2640330" cy="141732"/>
          </a:xfrm>
          <a:prstGeom prst="rect">
            <a:avLst/>
          </a:prstGeom>
          <a:solidFill>
            <a:srgbClr val="B3261E"/>
          </a:solidFill>
          <a:ln/>
        </p:spPr>
      </p:sp>
      <p:sp>
        <p:nvSpPr>
          <p:cNvPr id="41" name="Text 39"/>
          <p:cNvSpPr txBox="1"/>
          <p:nvPr/>
        </p:nvSpPr>
        <p:spPr>
          <a:xfrm>
            <a:off x="9025128" y="3268980"/>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cup</a:t>
            </a:r>
            <a:endParaRPr lang="en-US" sz="1100" dirty="0"/>
          </a:p>
        </p:txBody>
      </p:sp>
      <p:sp>
        <p:nvSpPr>
          <p:cNvPr id="42" name="Text 40"/>
          <p:cNvSpPr txBox="1"/>
          <p:nvPr/>
        </p:nvSpPr>
        <p:spPr>
          <a:xfrm>
            <a:off x="566928" y="3511296"/>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Meat and seafood</a:t>
            </a:r>
            <a:endParaRPr lang="en-US" sz="1100" dirty="0"/>
          </a:p>
        </p:txBody>
      </p:sp>
      <p:sp>
        <p:nvSpPr>
          <p:cNvPr id="43" name="Shape 41"/>
          <p:cNvSpPr/>
          <p:nvPr/>
        </p:nvSpPr>
        <p:spPr>
          <a:xfrm>
            <a:off x="2807208" y="3529584"/>
            <a:ext cx="3973068" cy="141732"/>
          </a:xfrm>
          <a:prstGeom prst="rect">
            <a:avLst/>
          </a:prstGeom>
          <a:solidFill>
            <a:srgbClr val="C08A00"/>
          </a:solidFill>
          <a:ln/>
        </p:spPr>
      </p:sp>
      <p:sp>
        <p:nvSpPr>
          <p:cNvPr id="44" name="Shape 42"/>
          <p:cNvSpPr/>
          <p:nvPr/>
        </p:nvSpPr>
        <p:spPr>
          <a:xfrm>
            <a:off x="6780276" y="3529584"/>
            <a:ext cx="2061972" cy="141732"/>
          </a:xfrm>
          <a:prstGeom prst="rect">
            <a:avLst/>
          </a:prstGeom>
          <a:solidFill>
            <a:srgbClr val="B3261E"/>
          </a:solidFill>
          <a:ln/>
        </p:spPr>
      </p:sp>
      <p:sp>
        <p:nvSpPr>
          <p:cNvPr id="45" name="Text 43"/>
          <p:cNvSpPr txBox="1"/>
          <p:nvPr/>
        </p:nvSpPr>
        <p:spPr>
          <a:xfrm>
            <a:off x="9025128" y="3511296"/>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3 oz</a:t>
            </a:r>
            <a:endParaRPr lang="en-US" sz="1100" dirty="0"/>
          </a:p>
        </p:txBody>
      </p:sp>
      <p:sp>
        <p:nvSpPr>
          <p:cNvPr id="46" name="Text 44"/>
          <p:cNvSpPr txBox="1"/>
          <p:nvPr/>
        </p:nvSpPr>
        <p:spPr>
          <a:xfrm>
            <a:off x="566928" y="3753612"/>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Eggs, beans, substitutes</a:t>
            </a:r>
            <a:endParaRPr lang="en-US" sz="1100" dirty="0"/>
          </a:p>
        </p:txBody>
      </p:sp>
      <p:sp>
        <p:nvSpPr>
          <p:cNvPr id="47" name="Shape 45"/>
          <p:cNvSpPr/>
          <p:nvPr/>
        </p:nvSpPr>
        <p:spPr>
          <a:xfrm>
            <a:off x="2807208" y="3771900"/>
            <a:ext cx="3017520" cy="141732"/>
          </a:xfrm>
          <a:prstGeom prst="rect">
            <a:avLst/>
          </a:prstGeom>
          <a:solidFill>
            <a:srgbClr val="C08A00"/>
          </a:solidFill>
          <a:ln/>
        </p:spPr>
      </p:sp>
      <p:sp>
        <p:nvSpPr>
          <p:cNvPr id="48" name="Shape 46"/>
          <p:cNvSpPr/>
          <p:nvPr/>
        </p:nvSpPr>
        <p:spPr>
          <a:xfrm>
            <a:off x="5824728" y="3771900"/>
            <a:ext cx="3017520" cy="141732"/>
          </a:xfrm>
          <a:prstGeom prst="rect">
            <a:avLst/>
          </a:prstGeom>
          <a:solidFill>
            <a:srgbClr val="B3261E"/>
          </a:solidFill>
          <a:ln/>
        </p:spPr>
      </p:sp>
      <p:sp>
        <p:nvSpPr>
          <p:cNvPr id="49" name="Text 47"/>
          <p:cNvSpPr txBox="1"/>
          <p:nvPr/>
        </p:nvSpPr>
        <p:spPr>
          <a:xfrm>
            <a:off x="9025128" y="3753612"/>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1/2 cup or 1 egg</a:t>
            </a:r>
            <a:endParaRPr lang="en-US" sz="1100" dirty="0"/>
          </a:p>
        </p:txBody>
      </p:sp>
      <p:sp>
        <p:nvSpPr>
          <p:cNvPr id="50" name="Text 48"/>
          <p:cNvSpPr txBox="1"/>
          <p:nvPr/>
        </p:nvSpPr>
        <p:spPr>
          <a:xfrm>
            <a:off x="566928" y="3995928"/>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Nuts and seeds</a:t>
            </a:r>
            <a:endParaRPr lang="en-US" sz="1100" dirty="0"/>
          </a:p>
        </p:txBody>
      </p:sp>
      <p:sp>
        <p:nvSpPr>
          <p:cNvPr id="51" name="Shape 49"/>
          <p:cNvSpPr/>
          <p:nvPr/>
        </p:nvSpPr>
        <p:spPr>
          <a:xfrm>
            <a:off x="2807208" y="4014216"/>
            <a:ext cx="1709928" cy="141732"/>
          </a:xfrm>
          <a:prstGeom prst="rect">
            <a:avLst/>
          </a:prstGeom>
          <a:solidFill>
            <a:srgbClr val="C08A00"/>
          </a:solidFill>
          <a:ln/>
        </p:spPr>
      </p:sp>
      <p:sp>
        <p:nvSpPr>
          <p:cNvPr id="52" name="Shape 50"/>
          <p:cNvSpPr/>
          <p:nvPr/>
        </p:nvSpPr>
        <p:spPr>
          <a:xfrm>
            <a:off x="4517136" y="4014216"/>
            <a:ext cx="4325112" cy="141732"/>
          </a:xfrm>
          <a:prstGeom prst="rect">
            <a:avLst/>
          </a:prstGeom>
          <a:solidFill>
            <a:srgbClr val="B3261E"/>
          </a:solidFill>
          <a:ln/>
        </p:spPr>
      </p:sp>
      <p:sp>
        <p:nvSpPr>
          <p:cNvPr id="53" name="Text 51"/>
          <p:cNvSpPr txBox="1"/>
          <p:nvPr/>
        </p:nvSpPr>
        <p:spPr>
          <a:xfrm>
            <a:off x="9025128" y="3995928"/>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oz</a:t>
            </a:r>
            <a:endParaRPr lang="en-US" sz="1100" dirty="0"/>
          </a:p>
        </p:txBody>
      </p:sp>
      <p:sp>
        <p:nvSpPr>
          <p:cNvPr id="54" name="Text 52"/>
          <p:cNvSpPr txBox="1"/>
          <p:nvPr/>
        </p:nvSpPr>
        <p:spPr>
          <a:xfrm>
            <a:off x="566928" y="4238244"/>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Fats, oils and sweets</a:t>
            </a:r>
            <a:endParaRPr lang="en-US" sz="1100" dirty="0"/>
          </a:p>
        </p:txBody>
      </p:sp>
      <p:sp>
        <p:nvSpPr>
          <p:cNvPr id="55" name="Shape 53"/>
          <p:cNvSpPr/>
          <p:nvPr/>
        </p:nvSpPr>
        <p:spPr>
          <a:xfrm>
            <a:off x="2807208" y="4256532"/>
            <a:ext cx="6035040" cy="141732"/>
          </a:xfrm>
          <a:prstGeom prst="rect">
            <a:avLst/>
          </a:prstGeom>
          <a:solidFill>
            <a:srgbClr val="B3261E"/>
          </a:solidFill>
          <a:ln/>
        </p:spPr>
      </p:sp>
      <p:sp>
        <p:nvSpPr>
          <p:cNvPr id="56" name="Text 54"/>
          <p:cNvSpPr txBox="1"/>
          <p:nvPr/>
        </p:nvSpPr>
        <p:spPr>
          <a:xfrm>
            <a:off x="9025128" y="4238244"/>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always red</a:t>
            </a:r>
            <a:endParaRPr lang="en-US" sz="1100" dirty="0"/>
          </a:p>
        </p:txBody>
      </p:sp>
      <p:sp>
        <p:nvSpPr>
          <p:cNvPr id="57" name="Text 55"/>
          <p:cNvSpPr txBox="1"/>
          <p:nvPr/>
        </p:nvSpPr>
        <p:spPr>
          <a:xfrm>
            <a:off x="566928" y="4480560"/>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Soup: broth and chowder</a:t>
            </a:r>
            <a:endParaRPr lang="en-US" sz="1100" dirty="0"/>
          </a:p>
        </p:txBody>
      </p:sp>
      <p:sp>
        <p:nvSpPr>
          <p:cNvPr id="58" name="Shape 56"/>
          <p:cNvSpPr/>
          <p:nvPr/>
        </p:nvSpPr>
        <p:spPr>
          <a:xfrm>
            <a:off x="2807208" y="4498848"/>
            <a:ext cx="4677156" cy="141732"/>
          </a:xfrm>
          <a:prstGeom prst="rect">
            <a:avLst/>
          </a:prstGeom>
          <a:solidFill>
            <a:srgbClr val="C08A00"/>
          </a:solidFill>
          <a:ln/>
        </p:spPr>
      </p:sp>
      <p:sp>
        <p:nvSpPr>
          <p:cNvPr id="59" name="Shape 57"/>
          <p:cNvSpPr/>
          <p:nvPr/>
        </p:nvSpPr>
        <p:spPr>
          <a:xfrm>
            <a:off x="7484364" y="4498848"/>
            <a:ext cx="1357884" cy="141732"/>
          </a:xfrm>
          <a:prstGeom prst="rect">
            <a:avLst/>
          </a:prstGeom>
          <a:solidFill>
            <a:srgbClr val="B3261E"/>
          </a:solidFill>
          <a:ln/>
        </p:spPr>
      </p:sp>
      <p:sp>
        <p:nvSpPr>
          <p:cNvPr id="60" name="Text 58"/>
          <p:cNvSpPr txBox="1"/>
          <p:nvPr/>
        </p:nvSpPr>
        <p:spPr>
          <a:xfrm>
            <a:off x="9025128" y="4480560"/>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cup</a:t>
            </a:r>
            <a:endParaRPr lang="en-US" sz="1100" dirty="0"/>
          </a:p>
        </p:txBody>
      </p:sp>
      <p:sp>
        <p:nvSpPr>
          <p:cNvPr id="61" name="Text 59"/>
          <p:cNvSpPr txBox="1"/>
          <p:nvPr/>
        </p:nvSpPr>
        <p:spPr>
          <a:xfrm>
            <a:off x="566928" y="4722876"/>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Soup: chili and bean</a:t>
            </a:r>
            <a:endParaRPr lang="en-US" sz="1100" dirty="0"/>
          </a:p>
        </p:txBody>
      </p:sp>
      <p:sp>
        <p:nvSpPr>
          <p:cNvPr id="62" name="Shape 60"/>
          <p:cNvSpPr/>
          <p:nvPr/>
        </p:nvSpPr>
        <p:spPr>
          <a:xfrm>
            <a:off x="2807208" y="4741164"/>
            <a:ext cx="5632704" cy="141732"/>
          </a:xfrm>
          <a:prstGeom prst="rect">
            <a:avLst/>
          </a:prstGeom>
          <a:solidFill>
            <a:srgbClr val="C08A00"/>
          </a:solidFill>
          <a:ln/>
        </p:spPr>
      </p:sp>
      <p:sp>
        <p:nvSpPr>
          <p:cNvPr id="63" name="Shape 61"/>
          <p:cNvSpPr/>
          <p:nvPr/>
        </p:nvSpPr>
        <p:spPr>
          <a:xfrm>
            <a:off x="8439912" y="4741164"/>
            <a:ext cx="402336" cy="141732"/>
          </a:xfrm>
          <a:prstGeom prst="rect">
            <a:avLst/>
          </a:prstGeom>
          <a:solidFill>
            <a:srgbClr val="B3261E"/>
          </a:solidFill>
          <a:ln/>
        </p:spPr>
      </p:sp>
      <p:sp>
        <p:nvSpPr>
          <p:cNvPr id="64" name="Text 62"/>
          <p:cNvSpPr txBox="1"/>
          <p:nvPr/>
        </p:nvSpPr>
        <p:spPr>
          <a:xfrm>
            <a:off x="9025128" y="4722876"/>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cup</a:t>
            </a:r>
            <a:endParaRPr lang="en-US" sz="1100" dirty="0"/>
          </a:p>
        </p:txBody>
      </p:sp>
      <p:sp>
        <p:nvSpPr>
          <p:cNvPr id="65" name="Text 63"/>
          <p:cNvSpPr txBox="1"/>
          <p:nvPr/>
        </p:nvSpPr>
        <p:spPr>
          <a:xfrm>
            <a:off x="566928" y="4965192"/>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Condiments</a:t>
            </a:r>
            <a:endParaRPr lang="en-US" sz="1100" dirty="0"/>
          </a:p>
        </p:txBody>
      </p:sp>
      <p:sp>
        <p:nvSpPr>
          <p:cNvPr id="66" name="Shape 64"/>
          <p:cNvSpPr/>
          <p:nvPr/>
        </p:nvSpPr>
        <p:spPr>
          <a:xfrm>
            <a:off x="2807208" y="4983480"/>
            <a:ext cx="578358" cy="141732"/>
          </a:xfrm>
          <a:prstGeom prst="rect">
            <a:avLst/>
          </a:prstGeom>
          <a:solidFill>
            <a:srgbClr val="C08A00"/>
          </a:solidFill>
          <a:ln/>
        </p:spPr>
      </p:sp>
      <p:sp>
        <p:nvSpPr>
          <p:cNvPr id="67" name="Shape 65"/>
          <p:cNvSpPr/>
          <p:nvPr/>
        </p:nvSpPr>
        <p:spPr>
          <a:xfrm>
            <a:off x="3385566" y="4983480"/>
            <a:ext cx="5456682" cy="141732"/>
          </a:xfrm>
          <a:prstGeom prst="rect">
            <a:avLst/>
          </a:prstGeom>
          <a:solidFill>
            <a:srgbClr val="B3261E"/>
          </a:solidFill>
          <a:ln/>
        </p:spPr>
      </p:sp>
      <p:sp>
        <p:nvSpPr>
          <p:cNvPr id="68" name="Text 66"/>
          <p:cNvSpPr txBox="1"/>
          <p:nvPr/>
        </p:nvSpPr>
        <p:spPr>
          <a:xfrm>
            <a:off x="9025128" y="4965192"/>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 Tbsp</a:t>
            </a:r>
            <a:endParaRPr lang="en-US" sz="1100" dirty="0"/>
          </a:p>
        </p:txBody>
      </p:sp>
      <p:sp>
        <p:nvSpPr>
          <p:cNvPr id="69" name="Text 67"/>
          <p:cNvSpPr txBox="1"/>
          <p:nvPr/>
        </p:nvSpPr>
        <p:spPr>
          <a:xfrm>
            <a:off x="566928" y="5207508"/>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Combination foods</a:t>
            </a:r>
            <a:endParaRPr lang="en-US" sz="1100" dirty="0"/>
          </a:p>
        </p:txBody>
      </p:sp>
      <p:sp>
        <p:nvSpPr>
          <p:cNvPr id="70" name="Shape 68"/>
          <p:cNvSpPr/>
          <p:nvPr/>
        </p:nvSpPr>
        <p:spPr>
          <a:xfrm>
            <a:off x="2807208" y="5225796"/>
            <a:ext cx="6035040" cy="141732"/>
          </a:xfrm>
          <a:prstGeom prst="rect">
            <a:avLst/>
          </a:prstGeom>
          <a:solidFill>
            <a:srgbClr val="6D4AA8"/>
          </a:solidFill>
          <a:ln/>
        </p:spPr>
      </p:sp>
      <p:sp>
        <p:nvSpPr>
          <p:cNvPr id="71" name="Text 69"/>
          <p:cNvSpPr txBox="1"/>
          <p:nvPr/>
        </p:nvSpPr>
        <p:spPr>
          <a:xfrm>
            <a:off x="9025128" y="5207508"/>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no range, taken apart</a:t>
            </a:r>
            <a:endParaRPr lang="en-US" sz="1100" dirty="0"/>
          </a:p>
        </p:txBody>
      </p:sp>
      <p:sp>
        <p:nvSpPr>
          <p:cNvPr id="72" name="Text 70"/>
          <p:cNvSpPr txBox="1"/>
          <p:nvPr/>
        </p:nvSpPr>
        <p:spPr>
          <a:xfrm>
            <a:off x="566928" y="5449824"/>
            <a:ext cx="2057400" cy="196596"/>
          </a:xfrm>
          <a:prstGeom prst="rect">
            <a:avLst/>
          </a:prstGeom>
          <a:noFill/>
          <a:ln/>
        </p:spPr>
        <p:txBody>
          <a:bodyPr wrap="square" lIns="0" tIns="0" rIns="0" bIns="0" rtlCol="0" anchor="ctr"/>
          <a:lstStyle/>
          <a:p>
            <a:pPr indent="0" marL="0">
              <a:buNone/>
            </a:pPr>
            <a:r>
              <a:rPr lang="en-US" sz="1100" dirty="0">
                <a:solidFill>
                  <a:srgbClr val="16211F"/>
                </a:solidFill>
                <a:latin typeface="Calibri" pitchFamily="34" charset="0"/>
                <a:ea typeface="Calibri" pitchFamily="34" charset="-122"/>
                <a:cs typeface="Calibri" pitchFamily="34" charset="-120"/>
              </a:rPr>
              <a:t>Water, tea, coffee, spices</a:t>
            </a:r>
            <a:endParaRPr lang="en-US" sz="1100" dirty="0"/>
          </a:p>
        </p:txBody>
      </p:sp>
      <p:sp>
        <p:nvSpPr>
          <p:cNvPr id="73" name="Shape 71"/>
          <p:cNvSpPr/>
          <p:nvPr/>
        </p:nvSpPr>
        <p:spPr>
          <a:xfrm>
            <a:off x="2807208" y="5468112"/>
            <a:ext cx="6035040" cy="141732"/>
          </a:xfrm>
          <a:prstGeom prst="rect">
            <a:avLst/>
          </a:prstGeom>
          <a:solidFill>
            <a:srgbClr val="B8BFBC"/>
          </a:solidFill>
          <a:ln/>
        </p:spPr>
      </p:sp>
      <p:sp>
        <p:nvSpPr>
          <p:cNvPr id="74" name="Text 72"/>
          <p:cNvSpPr txBox="1"/>
          <p:nvPr/>
        </p:nvSpPr>
        <p:spPr>
          <a:xfrm>
            <a:off x="9025128" y="5449824"/>
            <a:ext cx="2377440" cy="196596"/>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no colour</a:t>
            </a:r>
            <a:endParaRPr lang="en-US" sz="1100" dirty="0"/>
          </a:p>
        </p:txBody>
      </p:sp>
      <p:sp>
        <p:nvSpPr>
          <p:cNvPr id="75" name="Shape 73"/>
          <p:cNvSpPr/>
          <p:nvPr/>
        </p:nvSpPr>
        <p:spPr>
          <a:xfrm>
            <a:off x="566928" y="5838444"/>
            <a:ext cx="804672" cy="274320"/>
          </a:xfrm>
          <a:prstGeom prst="roundRect">
            <a:avLst>
              <a:gd name="adj" fmla="val 50000"/>
            </a:avLst>
          </a:prstGeom>
          <a:solidFill>
            <a:srgbClr val="1E7A34"/>
          </a:solidFill>
          <a:ln/>
        </p:spPr>
      </p:sp>
      <p:sp>
        <p:nvSpPr>
          <p:cNvPr id="76" name="Text 74"/>
          <p:cNvSpPr txBox="1"/>
          <p:nvPr/>
        </p:nvSpPr>
        <p:spPr>
          <a:xfrm>
            <a:off x="566928" y="5838444"/>
            <a:ext cx="804672" cy="274320"/>
          </a:xfrm>
          <a:prstGeom prst="rect">
            <a:avLst/>
          </a:prstGeom>
          <a:noFill/>
          <a:ln/>
        </p:spPr>
        <p:txBody>
          <a:bodyPr wrap="square" lIns="0" tIns="0" rIns="0" bIns="0" rtlCol="0" anchor="ctr"/>
          <a:lstStyle/>
          <a:p>
            <a:pPr algn="ctr" indent="0" marL="0">
              <a:buNone/>
            </a:pPr>
            <a:r>
              <a:rPr lang="en-US" sz="1100" dirty="0">
                <a:solidFill>
                  <a:srgbClr val="F7F6F2"/>
                </a:solidFill>
                <a:latin typeface="Calibri" pitchFamily="34" charset="0"/>
                <a:ea typeface="Calibri" pitchFamily="34" charset="-122"/>
                <a:cs typeface="Calibri" pitchFamily="34" charset="-120"/>
              </a:rPr>
              <a:t>green</a:t>
            </a:r>
            <a:endParaRPr lang="en-US" sz="1100" dirty="0"/>
          </a:p>
        </p:txBody>
      </p:sp>
      <p:sp>
        <p:nvSpPr>
          <p:cNvPr id="77" name="Shape 75"/>
          <p:cNvSpPr/>
          <p:nvPr/>
        </p:nvSpPr>
        <p:spPr>
          <a:xfrm>
            <a:off x="1481328" y="5838444"/>
            <a:ext cx="804672" cy="274320"/>
          </a:xfrm>
          <a:prstGeom prst="roundRect">
            <a:avLst>
              <a:gd name="adj" fmla="val 50000"/>
            </a:avLst>
          </a:prstGeom>
          <a:solidFill>
            <a:srgbClr val="C08A00"/>
          </a:solidFill>
          <a:ln/>
        </p:spPr>
      </p:sp>
      <p:sp>
        <p:nvSpPr>
          <p:cNvPr id="78" name="Text 76"/>
          <p:cNvSpPr txBox="1"/>
          <p:nvPr/>
        </p:nvSpPr>
        <p:spPr>
          <a:xfrm>
            <a:off x="1481328" y="5838444"/>
            <a:ext cx="804672" cy="274320"/>
          </a:xfrm>
          <a:prstGeom prst="rect">
            <a:avLst/>
          </a:prstGeom>
          <a:noFill/>
          <a:ln/>
        </p:spPr>
        <p:txBody>
          <a:bodyPr wrap="square" lIns="0" tIns="0" rIns="0" bIns="0" rtlCol="0" anchor="ctr"/>
          <a:lstStyle/>
          <a:p>
            <a:pPr algn="ctr" indent="0" marL="0">
              <a:buNone/>
            </a:pPr>
            <a:r>
              <a:rPr lang="en-US" sz="1100" dirty="0">
                <a:solidFill>
                  <a:srgbClr val="16211F"/>
                </a:solidFill>
                <a:latin typeface="Calibri" pitchFamily="34" charset="0"/>
                <a:ea typeface="Calibri" pitchFamily="34" charset="-122"/>
                <a:cs typeface="Calibri" pitchFamily="34" charset="-120"/>
              </a:rPr>
              <a:t>yellow</a:t>
            </a:r>
            <a:endParaRPr lang="en-US" sz="1100" dirty="0"/>
          </a:p>
        </p:txBody>
      </p:sp>
      <p:sp>
        <p:nvSpPr>
          <p:cNvPr id="79" name="Shape 77"/>
          <p:cNvSpPr/>
          <p:nvPr/>
        </p:nvSpPr>
        <p:spPr>
          <a:xfrm>
            <a:off x="2304288" y="5838444"/>
            <a:ext cx="804672" cy="274320"/>
          </a:xfrm>
          <a:prstGeom prst="roundRect">
            <a:avLst>
              <a:gd name="adj" fmla="val 50000"/>
            </a:avLst>
          </a:prstGeom>
          <a:solidFill>
            <a:srgbClr val="B3261E"/>
          </a:solidFill>
          <a:ln/>
        </p:spPr>
      </p:sp>
      <p:sp>
        <p:nvSpPr>
          <p:cNvPr id="80" name="Text 78"/>
          <p:cNvSpPr txBox="1"/>
          <p:nvPr/>
        </p:nvSpPr>
        <p:spPr>
          <a:xfrm>
            <a:off x="2304288" y="5838444"/>
            <a:ext cx="804672" cy="274320"/>
          </a:xfrm>
          <a:prstGeom prst="rect">
            <a:avLst/>
          </a:prstGeom>
          <a:noFill/>
          <a:ln/>
        </p:spPr>
        <p:txBody>
          <a:bodyPr wrap="square" lIns="0" tIns="0" rIns="0" bIns="0" rtlCol="0" anchor="ctr"/>
          <a:lstStyle/>
          <a:p>
            <a:pPr algn="ctr" indent="0" marL="0">
              <a:buNone/>
            </a:pPr>
            <a:r>
              <a:rPr lang="en-US" sz="1100" dirty="0">
                <a:solidFill>
                  <a:srgbClr val="F7F6F2"/>
                </a:solidFill>
                <a:latin typeface="Calibri" pitchFamily="34" charset="0"/>
                <a:ea typeface="Calibri" pitchFamily="34" charset="-122"/>
                <a:cs typeface="Calibri" pitchFamily="34" charset="-120"/>
              </a:rPr>
              <a:t>red</a:t>
            </a:r>
            <a:endParaRPr lang="en-US" sz="1100" dirty="0"/>
          </a:p>
        </p:txBody>
      </p:sp>
      <p:sp>
        <p:nvSpPr>
          <p:cNvPr id="81" name="Shape 79"/>
          <p:cNvSpPr/>
          <p:nvPr/>
        </p:nvSpPr>
        <p:spPr>
          <a:xfrm>
            <a:off x="3127248" y="5838444"/>
            <a:ext cx="1325880" cy="274320"/>
          </a:xfrm>
          <a:prstGeom prst="roundRect">
            <a:avLst>
              <a:gd name="adj" fmla="val 50000"/>
            </a:avLst>
          </a:prstGeom>
          <a:solidFill>
            <a:srgbClr val="6D4AA8"/>
          </a:solidFill>
          <a:ln/>
        </p:spPr>
      </p:sp>
      <p:sp>
        <p:nvSpPr>
          <p:cNvPr id="82" name="Text 80"/>
          <p:cNvSpPr txBox="1"/>
          <p:nvPr/>
        </p:nvSpPr>
        <p:spPr>
          <a:xfrm>
            <a:off x="3127248" y="5838444"/>
            <a:ext cx="1325880" cy="274320"/>
          </a:xfrm>
          <a:prstGeom prst="rect">
            <a:avLst/>
          </a:prstGeom>
          <a:noFill/>
          <a:ln/>
        </p:spPr>
        <p:txBody>
          <a:bodyPr wrap="square" lIns="0" tIns="0" rIns="0" bIns="0" rtlCol="0" anchor="ctr"/>
          <a:lstStyle/>
          <a:p>
            <a:pPr algn="ctr" indent="0" marL="0">
              <a:buNone/>
            </a:pPr>
            <a:r>
              <a:rPr lang="en-US" sz="1100" dirty="0">
                <a:solidFill>
                  <a:srgbClr val="F7F6F2"/>
                </a:solidFill>
                <a:latin typeface="Calibri" pitchFamily="34" charset="0"/>
                <a:ea typeface="Calibri" pitchFamily="34" charset="-122"/>
                <a:cs typeface="Calibri" pitchFamily="34" charset="-120"/>
              </a:rPr>
              <a:t>needs a decision</a:t>
            </a:r>
            <a:endParaRPr lang="en-US" sz="1100" dirty="0"/>
          </a:p>
        </p:txBody>
      </p:sp>
      <p:sp>
        <p:nvSpPr>
          <p:cNvPr id="83" name="Text 81"/>
          <p:cNvSpPr txBox="1"/>
          <p:nvPr/>
        </p:nvSpPr>
        <p:spPr>
          <a:xfrm>
            <a:off x="4636008" y="5838444"/>
            <a:ext cx="3840480" cy="274320"/>
          </a:xfrm>
          <a:prstGeom prst="rect">
            <a:avLst/>
          </a:prstGeom>
          <a:noFill/>
          <a:ln/>
        </p:spPr>
        <p:txBody>
          <a:bodyPr wrap="square" lIns="0" tIns="0" rIns="0" bIns="0" rtlCol="0" anchor="ctr"/>
          <a:lstStyle/>
          <a:p>
            <a:pPr indent="0" marL="0">
              <a:buNone/>
            </a:pPr>
            <a:r>
              <a:rPr lang="en-US" sz="1300" b="1" dirty="0">
                <a:solidFill>
                  <a:srgbClr val="16211F"/>
                </a:solidFill>
                <a:latin typeface="Calibri" pitchFamily="34" charset="0"/>
                <a:ea typeface="Calibri" pitchFamily="34" charset="-122"/>
                <a:cs typeface="Calibri" pitchFamily="34" charset="-120"/>
              </a:rPr>
              <a:t>Only the top bar has any green in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r>
              <a:rPr lang="en-US" sz="3400" b="1" dirty="0">
                <a:solidFill>
                  <a:srgbClr val="16211F"/>
                </a:solidFill>
                <a:latin typeface="Cambria" pitchFamily="34" charset="0"/>
                <a:ea typeface="Cambria" pitchFamily="34" charset="-122"/>
                <a:cs typeface="Cambria" pitchFamily="34" charset="-120"/>
              </a:rPr>
              <a:t>Two foods, side by side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11057839" cy="914400"/>
        </p:xfrm>
        <a:graphic>
          <a:graphicData uri="http://schemas.openxmlformats.org/drawingml/2006/table">
            <a:tbl>
              <a:tblPr/>
              <a:tblGrid>
                <a:gridCol w="2875038"/>
                <a:gridCol w="4091401"/>
                <a:gridCol w="4091401"/>
              </a:tblGrid>
              <a:tr h="384048">
                <a:tc>
                  <a:txBody>
                    <a:bodyPr/>
                    <a:lstStyle/>
                    <a:p>
                      <a:pPr indent="0" marL="0">
                        <a:buNone/>
                      </a:pPr>
                      <a:r>
                        <a:rPr lang="en-US" sz="1500" b="1" dirty="0">
                          <a:solidFill>
                            <a:srgbClr val="F7F6F2"/>
                          </a:solidFill>
                          <a:latin typeface="Calibri" pitchFamily="34" charset="0"/>
                          <a:ea typeface="Calibri" pitchFamily="34" charset="-122"/>
                          <a:cs typeface="Calibri" pitchFamily="34" charset="-120"/>
                        </a:rPr>
                        <a:t>Step</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16211F"/>
                    </a:solidFill>
                  </a:tcPr>
                </a:tc>
                <a:tc>
                  <a:txBody>
                    <a:bodyPr/>
                    <a:lstStyle/>
                    <a:p>
                      <a:pPr indent="0" marL="0">
                        <a:buNone/>
                      </a:pPr>
                      <a:r>
                        <a:rPr lang="en-US" sz="1500" b="1" dirty="0">
                          <a:solidFill>
                            <a:srgbClr val="F7F6F2"/>
                          </a:solidFill>
                          <a:latin typeface="Calibri" pitchFamily="34" charset="0"/>
                          <a:ea typeface="Calibri" pitchFamily="34" charset="-122"/>
                          <a:cs typeface="Calibri" pitchFamily="34" charset="-120"/>
                        </a:rPr>
                        <a:t>Cheddar cheese</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16211F"/>
                    </a:solidFill>
                  </a:tcPr>
                </a:tc>
                <a:tc>
                  <a:txBody>
                    <a:bodyPr/>
                    <a:lstStyle/>
                    <a:p>
                      <a:pPr indent="0" marL="0">
                        <a:buNone/>
                      </a:pPr>
                      <a:r>
                        <a:rPr lang="en-US" sz="1500" b="1" dirty="0">
                          <a:solidFill>
                            <a:srgbClr val="F7F6F2"/>
                          </a:solidFill>
                          <a:latin typeface="Calibri" pitchFamily="34" charset="0"/>
                          <a:ea typeface="Calibri" pitchFamily="34" charset="-122"/>
                          <a:cs typeface="Calibri" pitchFamily="34" charset="-120"/>
                        </a:rPr>
                        <a:t>Carrots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16211F"/>
                    </a:solidFill>
                  </a:tcPr>
                </a:tc>
              </a:tr>
              <a:tr h="384048">
                <a:tc>
                  <a:txBody>
                    <a:bodyPr/>
                    <a:lstStyle/>
                    <a:p>
                      <a:pPr indent="0" marL="0">
                        <a:buNone/>
                      </a:pPr>
                      <a:r>
                        <a:rPr lang="en-US" sz="1500" dirty="0">
                          <a:solidFill>
                            <a:srgbClr val="4A5568"/>
                          </a:solidFill>
                          <a:latin typeface="Calibri" pitchFamily="34" charset="0"/>
                          <a:ea typeface="Calibri" pitchFamily="34" charset="-122"/>
                          <a:cs typeface="Calibri" pitchFamily="34" charset="-120"/>
                        </a:rPr>
                        <a:t>USDA says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403 cal per 100 g</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41 cal per 100 g</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384048">
                <a:tc>
                  <a:txBody>
                    <a:bodyPr/>
                    <a:lstStyle/>
                    <a:p>
                      <a:pPr indent="0" marL="0">
                        <a:buNone/>
                      </a:pPr>
                      <a:r>
                        <a:rPr lang="en-US" sz="1500" dirty="0">
                          <a:solidFill>
                            <a:srgbClr val="4A5568"/>
                          </a:solidFill>
                          <a:latin typeface="Calibri" pitchFamily="34" charset="0"/>
                          <a:ea typeface="Calibri" pitchFamily="34" charset="-122"/>
                          <a:cs typeface="Calibri" pitchFamily="34" charset="-120"/>
                        </a:rPr>
                        <a:t>1. Group</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16211F"/>
                          </a:solidFill>
                          <a:latin typeface="Calibri" pitchFamily="34" charset="0"/>
                          <a:ea typeface="Calibri" pitchFamily="34" charset="-122"/>
                          <a:cs typeface="Calibri" pitchFamily="34" charset="-120"/>
                        </a:rPr>
                        <a:t>Cheese</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16211F"/>
                          </a:solidFill>
                          <a:latin typeface="Calibri" pitchFamily="34" charset="0"/>
                          <a:ea typeface="Calibri" pitchFamily="34" charset="-122"/>
                          <a:cs typeface="Calibri" pitchFamily="34" charset="-120"/>
                        </a:rPr>
                        <a:t>Vegetables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384048">
                <a:tc>
                  <a:txBody>
                    <a:bodyPr/>
                    <a:lstStyle/>
                    <a:p>
                      <a:pPr indent="0" marL="0">
                        <a:buNone/>
                      </a:pPr>
                      <a:r>
                        <a:rPr lang="en-US" sz="1500" dirty="0">
                          <a:solidFill>
                            <a:srgbClr val="4A5568"/>
                          </a:solidFill>
                          <a:latin typeface="Calibri" pitchFamily="34" charset="0"/>
                          <a:ea typeface="Calibri" pitchFamily="34" charset="-122"/>
                          <a:cs typeface="Calibri" pitchFamily="34" charset="-120"/>
                        </a:rPr>
                        <a:t>2. Serving</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1 oz, about 28 g</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1/2 cup, about 65 g</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384048">
                <a:tc>
                  <a:txBody>
                    <a:bodyPr/>
                    <a:lstStyle/>
                    <a:p>
                      <a:pPr indent="0" marL="0">
                        <a:buNone/>
                      </a:pPr>
                      <a:r>
                        <a:rPr lang="en-US" sz="1500" dirty="0">
                          <a:solidFill>
                            <a:srgbClr val="4A5568"/>
                          </a:solidFill>
                          <a:latin typeface="Calibri" pitchFamily="34" charset="0"/>
                          <a:ea typeface="Calibri" pitchFamily="34" charset="-122"/>
                          <a:cs typeface="Calibri" pitchFamily="34" charset="-120"/>
                        </a:rPr>
                        <a:t>Calories in it</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16211F"/>
                          </a:solidFill>
                          <a:latin typeface="Calibri" pitchFamily="34" charset="0"/>
                          <a:ea typeface="Calibri" pitchFamily="34" charset="-122"/>
                          <a:cs typeface="Calibri" pitchFamily="34" charset="-120"/>
                        </a:rPr>
                        <a:t>113</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16211F"/>
                          </a:solidFill>
                          <a:latin typeface="Calibri" pitchFamily="34" charset="0"/>
                          <a:ea typeface="Calibri" pitchFamily="34" charset="-122"/>
                          <a:cs typeface="Calibri" pitchFamily="34" charset="-120"/>
                        </a:rPr>
                        <a:t>27</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384048">
                <a:tc>
                  <a:txBody>
                    <a:bodyPr/>
                    <a:lstStyle/>
                    <a:p>
                      <a:pPr indent="0" marL="0">
                        <a:buNone/>
                      </a:pPr>
                      <a:r>
                        <a:rPr lang="en-US" sz="1500" dirty="0">
                          <a:solidFill>
                            <a:srgbClr val="4A5568"/>
                          </a:solidFill>
                          <a:latin typeface="Calibri" pitchFamily="34" charset="0"/>
                          <a:ea typeface="Calibri" pitchFamily="34" charset="-122"/>
                          <a:cs typeface="Calibri" pitchFamily="34" charset="-120"/>
                        </a:rPr>
                        <a:t>3. The line</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yellow to 83</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green to 30</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384048">
                <a:tc>
                  <a:txBody>
                    <a:bodyPr/>
                    <a:lstStyle/>
                    <a:p>
                      <a:pPr indent="0" marL="0">
                        <a:buNone/>
                      </a:pPr>
                      <a:r>
                        <a:rPr lang="en-US" sz="1500" b="1" dirty="0">
                          <a:solidFill>
                            <a:srgbClr val="4A5568"/>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E4EFEF"/>
                    </a:solidFill>
                  </a:tcPr>
                </a:tc>
                <a:tc>
                  <a:txBody>
                    <a:bodyPr/>
                    <a:lstStyle/>
                    <a:p>
                      <a:pPr indent="0" marL="0">
                        <a:buNone/>
                      </a:pPr>
                      <a:r>
                        <a:rPr lang="en-US" sz="1500" b="1" dirty="0">
                          <a:solidFill>
                            <a:srgbClr val="B3261E"/>
                          </a:solidFill>
                          <a:latin typeface="Calibri" pitchFamily="34" charset="0"/>
                          <a:ea typeface="Calibri" pitchFamily="34" charset="-122"/>
                          <a:cs typeface="Calibri" pitchFamily="34" charset="-120"/>
                        </a:rPr>
                        <a:t>RED</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E4EFEF"/>
                    </a:solidFill>
                  </a:tcPr>
                </a:tc>
                <a:tc>
                  <a:txBody>
                    <a:bodyPr/>
                    <a:lstStyle/>
                    <a:p>
                      <a:pPr indent="0" marL="0">
                        <a:buNone/>
                      </a:pPr>
                      <a:r>
                        <a:rPr lang="en-US" sz="1500" b="1" dirty="0">
                          <a:solidFill>
                            <a:srgbClr val="1E7A34"/>
                          </a:solidFill>
                          <a:latin typeface="Calibri" pitchFamily="34" charset="0"/>
                          <a:ea typeface="Calibri" pitchFamily="34" charset="-122"/>
                          <a:cs typeface="Calibri" pitchFamily="34" charset="-120"/>
                        </a:rPr>
                        <a:t>GREEN</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E4EFEF"/>
                    </a:solidFill>
                  </a:tcPr>
                </a:tc>
              </a:tr>
            </a:tbl>
          </a:graphicData>
        </a:graphic>
      </p:graphicFrame>
      <p:sp>
        <p:nvSpPr>
          <p:cNvPr id="4" name="Shape 1"/>
          <p:cNvSpPr/>
          <p:nvPr/>
        </p:nvSpPr>
        <p:spPr>
          <a:xfrm>
            <a:off x="566928" y="5120640"/>
            <a:ext cx="11057839" cy="868680"/>
          </a:xfrm>
          <a:prstGeom prst="roundRect">
            <a:avLst>
              <a:gd name="adj" fmla="val 10526"/>
            </a:avLst>
          </a:prstGeom>
          <a:solidFill>
            <a:srgbClr val="E4EFEF"/>
          </a:solidFill>
          <a:ln/>
        </p:spPr>
      </p:sp>
      <p:sp>
        <p:nvSpPr>
          <p:cNvPr id="5" name="Text 2"/>
          <p:cNvSpPr txBox="1"/>
          <p:nvPr/>
        </p:nvSpPr>
        <p:spPr>
          <a:xfrm>
            <a:off x="886968" y="5120640"/>
            <a:ext cx="10417759" cy="868680"/>
          </a:xfrm>
          <a:prstGeom prst="rect">
            <a:avLst/>
          </a:prstGeom>
          <a:noFill/>
          <a:ln/>
        </p:spPr>
        <p:txBody>
          <a:bodyPr wrap="square" lIns="0" tIns="0" rIns="0" bIns="0" rtlCol="0" anchor="ctr"/>
          <a:lstStyle/>
          <a:p>
            <a:pPr indent="0" marL="0">
              <a:buNone/>
            </a:pPr>
            <a:r>
              <a:rPr lang="en-US" sz="1600" dirty="0">
                <a:solidFill>
                  <a:srgbClr val="16211F"/>
                </a:solidFill>
                <a:latin typeface="Calibri" pitchFamily="34" charset="0"/>
                <a:ea typeface="Calibri" pitchFamily="34" charset="-122"/>
                <a:cs typeface="Calibri" pitchFamily="34" charset="-120"/>
              </a:rPr>
              <a:t>Same three questions, different answers. The app shows every row to the clinician, so any verdict can be checked and overridden.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7839" cy="868680"/>
          </a:xfrm>
          <a:prstGeom prst="rect">
            <a:avLst/>
          </a:prstGeom>
          <a:noFill/>
          <a:ln/>
        </p:spPr>
        <p:txBody>
          <a:bodyPr wrap="square" rtlCol="0" anchor="ctr"/>
          <a:lstStyle/>
          <a:p>
            <a:pPr algn="l" indent="0" marL="0">
              <a:buNone/>
            </a:pPr>
            <a:r>
              <a:rPr lang="en-US" sz="3400" b="1" dirty="0">
                <a:solidFill>
                  <a:srgbClr val="16211F"/>
                </a:solidFill>
                <a:latin typeface="Cambria" pitchFamily="34" charset="0"/>
                <a:ea typeface="Cambria" pitchFamily="34" charset="-122"/>
                <a:cs typeface="Cambria" pitchFamily="34" charset="-120"/>
              </a:rPr>
              <a:t>Four things that sit outside the arithmetic</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11057839" cy="914400"/>
        </p:xfrm>
        <a:graphic>
          <a:graphicData uri="http://schemas.openxmlformats.org/drawingml/2006/table">
            <a:tbl>
              <a:tblPr/>
              <a:tblGrid>
                <a:gridCol w="4423136"/>
                <a:gridCol w="6634704"/>
              </a:tblGrid>
              <a:tr h="438912">
                <a:tc>
                  <a:txBody>
                    <a:bodyPr/>
                    <a:lstStyle/>
                    <a:p>
                      <a:pPr indent="0" marL="0">
                        <a:buNone/>
                      </a:pPr>
                      <a:r>
                        <a:rPr lang="en-US" sz="1500" b="1" dirty="0">
                          <a:solidFill>
                            <a:srgbClr val="F7F6F2"/>
                          </a:solidFill>
                          <a:latin typeface="Calibri" pitchFamily="34" charset="0"/>
                          <a:ea typeface="Calibri" pitchFamily="34" charset="-122"/>
                          <a:cs typeface="Calibri" pitchFamily="34" charset="-120"/>
                        </a:rPr>
                        <a:t>Food</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16211F"/>
                    </a:solidFill>
                  </a:tcPr>
                </a:tc>
                <a:tc>
                  <a:txBody>
                    <a:bodyPr/>
                    <a:lstStyle/>
                    <a:p>
                      <a:pPr indent="0" marL="0">
                        <a:buNone/>
                      </a:pPr>
                      <a:r>
                        <a:rPr lang="en-US" sz="1500" b="1" dirty="0">
                          <a:solidFill>
                            <a:srgbClr val="F7F6F2"/>
                          </a:solidFill>
                          <a:latin typeface="Calibri" pitchFamily="34" charset="0"/>
                          <a:ea typeface="Calibri" pitchFamily="34" charset="-122"/>
                          <a:cs typeface="Calibri" pitchFamily="34" charset="-120"/>
                        </a:rPr>
                        <a:t>What happens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solidFill>
                      <a:srgbClr val="16211F"/>
                    </a:solidFill>
                  </a:tcPr>
                </a:tc>
              </a:tr>
              <a:tr h="438912">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Juice, dried fruit, fats, oils, sweets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B3261E"/>
                          </a:solidFill>
                          <a:latin typeface="Calibri" pitchFamily="34" charset="0"/>
                          <a:ea typeface="Calibri" pitchFamily="34" charset="-122"/>
                          <a:cs typeface="Calibri" pitchFamily="34" charset="-120"/>
                        </a:rPr>
                        <a:t>Always red, whatever the calories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438912">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Diet soda and artificial sweeteners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B3261E"/>
                          </a:solidFill>
                          <a:latin typeface="Calibri" pitchFamily="34" charset="0"/>
                          <a:ea typeface="Calibri" pitchFamily="34" charset="-122"/>
                          <a:cs typeface="Calibri" pitchFamily="34" charset="-120"/>
                        </a:rPr>
                        <a:t>Always red, even at zero calories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438912">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Water, plain tea and coffee</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6A7179"/>
                          </a:solidFill>
                          <a:latin typeface="Calibri" pitchFamily="34" charset="0"/>
                          <a:ea typeface="Calibri" pitchFamily="34" charset="-122"/>
                          <a:cs typeface="Calibri" pitchFamily="34" charset="-120"/>
                        </a:rPr>
                        <a:t>No colour at all</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r h="438912">
                <a:tc>
                  <a:txBody>
                    <a:bodyPr/>
                    <a:lstStyle/>
                    <a:p>
                      <a:pPr indent="0" marL="0">
                        <a:buNone/>
                      </a:pPr>
                      <a:r>
                        <a:rPr lang="en-US" sz="1500" dirty="0">
                          <a:solidFill>
                            <a:srgbClr val="16211F"/>
                          </a:solidFill>
                          <a:latin typeface="Calibri" pitchFamily="34" charset="0"/>
                          <a:ea typeface="Calibri" pitchFamily="34" charset="-122"/>
                          <a:cs typeface="Calibri" pitchFamily="34" charset="-120"/>
                        </a:rPr>
                        <a:t>Pizza, sandwiches, casseroles</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c>
                  <a:txBody>
                    <a:bodyPr/>
                    <a:lstStyle/>
                    <a:p>
                      <a:pPr indent="0" marL="0">
                        <a:buNone/>
                      </a:pPr>
                      <a:r>
                        <a:rPr lang="en-US" sz="1500" b="1" dirty="0">
                          <a:solidFill>
                            <a:srgbClr val="9A6A00"/>
                          </a:solidFill>
                          <a:latin typeface="Calibri" pitchFamily="34" charset="0"/>
                          <a:ea typeface="Calibri" pitchFamily="34" charset="-122"/>
                          <a:cs typeface="Calibri" pitchFamily="34" charset="-120"/>
                        </a:rPr>
                        <a:t>Taken apart, red if the dish holds one full serving of a red food</a:t>
                      </a:r>
                      <a:endParaRPr lang="en-US" sz="1500" dirty="0">
                        <a:latin typeface="Calibri" charset="0"/>
                        <a:ea typeface="Calibri" charset="0"/>
                        <a:cs typeface="Calibri" charset="0"/>
                      </a:endParaRPr>
                    </a:p>
                  </a:txBody>
                  <a:tcPr marL="109728" marR="109728" marT="109728" marB="109728" anchor="ctr">
                    <a:lnL w="12700" cap="flat" cmpd="sng" algn="ctr">
                      <a:solidFill>
                        <a:srgbClr val="DFE2DE"/>
                      </a:solidFill>
                      <a:prstDash val="solid"/>
                      <a:round/>
                      <a:headEnd type="none" w="med" len="med"/>
                      <a:tailEnd type="none" w="med" len="med"/>
                    </a:lnL>
                    <a:lnR w="12700" cap="flat" cmpd="sng" algn="ctr">
                      <a:solidFill>
                        <a:srgbClr val="DFE2DE"/>
                      </a:solidFill>
                      <a:prstDash val="solid"/>
                      <a:round/>
                      <a:headEnd type="none" w="med" len="med"/>
                      <a:tailEnd type="none" w="med" len="med"/>
                    </a:lnR>
                    <a:lnT w="12700" cap="flat" cmpd="sng" algn="ctr">
                      <a:solidFill>
                        <a:srgbClr val="DFE2DE"/>
                      </a:solidFill>
                      <a:prstDash val="solid"/>
                      <a:round/>
                      <a:headEnd type="none" w="med" len="med"/>
                      <a:tailEnd type="none" w="med" len="med"/>
                    </a:lnT>
                    <a:lnB w="12700" cap="flat" cmpd="sng" algn="ctr">
                      <a:solidFill>
                        <a:srgbClr val="DFE2DE"/>
                      </a:solidFill>
                      <a:prstDash val="solid"/>
                      <a:round/>
                      <a:headEnd type="none" w="med" len="med"/>
                      <a:tailEnd type="none" w="med" len="med"/>
                    </a:lnB>
                  </a:tcPr>
                </a:tc>
              </a:tr>
            </a:tbl>
          </a:graphicData>
        </a:graphic>
      </p:graphicFrame>
      <p:sp>
        <p:nvSpPr>
          <p:cNvPr id="4" name="Shape 1"/>
          <p:cNvSpPr/>
          <p:nvPr/>
        </p:nvSpPr>
        <p:spPr>
          <a:xfrm>
            <a:off x="566928" y="4434840"/>
            <a:ext cx="11057839" cy="1371600"/>
          </a:xfrm>
          <a:prstGeom prst="roundRect">
            <a:avLst>
              <a:gd name="adj" fmla="val 6667"/>
            </a:avLst>
          </a:prstGeom>
          <a:solidFill>
            <a:srgbClr val="16211F"/>
          </a:solidFill>
          <a:ln/>
        </p:spPr>
      </p:sp>
      <p:sp>
        <p:nvSpPr>
          <p:cNvPr id="5" name="Text 2"/>
          <p:cNvSpPr txBox="1"/>
          <p:nvPr/>
        </p:nvSpPr>
        <p:spPr>
          <a:xfrm>
            <a:off x="950976" y="4617720"/>
            <a:ext cx="5486400" cy="274320"/>
          </a:xfrm>
          <a:prstGeom prst="rect">
            <a:avLst/>
          </a:prstGeom>
          <a:noFill/>
          <a:ln/>
        </p:spPr>
        <p:txBody>
          <a:bodyPr wrap="square" lIns="0" tIns="0" rIns="0" bIns="0" rtlCol="0" anchor="ctr"/>
          <a:lstStyle/>
          <a:p>
            <a:pPr indent="0" marL="0">
              <a:buNone/>
            </a:pPr>
            <a:r>
              <a:rPr lang="en-US" sz="1200" b="1" spc="150" kern="0" dirty="0">
                <a:solidFill>
                  <a:srgbClr val="B79BEA"/>
                </a:solidFill>
                <a:latin typeface="Calibri" pitchFamily="34" charset="0"/>
                <a:ea typeface="Calibri" pitchFamily="34" charset="-122"/>
                <a:cs typeface="Calibri" pitchFamily="34" charset="-120"/>
              </a:rPr>
              <a:t>AND WHEN IT CANNOT TELL</a:t>
            </a:r>
            <a:endParaRPr lang="en-US" sz="1200" dirty="0"/>
          </a:p>
        </p:txBody>
      </p:sp>
      <p:sp>
        <p:nvSpPr>
          <p:cNvPr id="6" name="Text 3"/>
          <p:cNvSpPr txBox="1"/>
          <p:nvPr/>
        </p:nvSpPr>
        <p:spPr>
          <a:xfrm>
            <a:off x="950976" y="4983480"/>
            <a:ext cx="10289743" cy="731520"/>
          </a:xfrm>
          <a:prstGeom prst="rect">
            <a:avLst/>
          </a:prstGeom>
          <a:noFill/>
          <a:ln/>
        </p:spPr>
        <p:txBody>
          <a:bodyPr wrap="square" lIns="0" tIns="0" rIns="0" bIns="0" rtlCol="0" anchor="ctr"/>
          <a:lstStyle/>
          <a:p>
            <a:pPr indent="0" marL="0">
              <a:buNone/>
            </a:pPr>
            <a:r>
              <a:rPr lang="en-US" sz="1800" dirty="0">
                <a:solidFill>
                  <a:srgbClr val="F7F6F2"/>
                </a:solidFill>
                <a:latin typeface="Calibri" pitchFamily="34" charset="0"/>
                <a:ea typeface="Calibri" pitchFamily="34" charset="-122"/>
                <a:cs typeface="Calibri" pitchFamily="34" charset="-120"/>
              </a:rPr>
              <a:t>It says so and asks the clinician, rather than guessing. A food it cannot place is never given a colour.</a:t>
            </a:r>
            <a:endParaRPr lang="en-US" sz="1800" dirty="0"/>
          </a:p>
        </p:txBody>
      </p:sp>
      <p:sp>
        <p:nvSpPr>
          <p:cNvPr id="7" name="Text 4"/>
          <p:cNvSpPr txBox="1"/>
          <p:nvPr/>
        </p:nvSpPr>
        <p:spPr>
          <a:xfrm>
            <a:off x="566928" y="6144768"/>
            <a:ext cx="11057839" cy="27432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Full detail in Traffic light rules table.docx. Prototype, for use alongside clinical judgment.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USDA Record to Traffic Light</dc:title>
  <dc:subject>PptxGenJS Presentation</dc:subject>
  <dc:creator>Traffic Light Food Logger</dc:creator>
  <cp:lastModifiedBy>Traffic Light Food Logger</cp:lastModifiedBy>
  <cp:revision>1</cp:revision>
  <dcterms:created xsi:type="dcterms:W3CDTF">2026-10-09T14:30:36Z</dcterms:created>
  <dcterms:modified xsi:type="dcterms:W3CDTF">2026-10-09T14:30:36Z</dcterms:modified>
</cp:coreProperties>
</file>